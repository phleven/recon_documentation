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55" r:id="rId5"/>
  </p:sldMasterIdLst>
  <p:notesMasterIdLst>
    <p:notesMasterId r:id="rId14"/>
  </p:notesMasterIdLst>
  <p:sldIdLst>
    <p:sldId id="264" r:id="rId6"/>
    <p:sldId id="295" r:id="rId7"/>
    <p:sldId id="300" r:id="rId8"/>
    <p:sldId id="297" r:id="rId9"/>
    <p:sldId id="296" r:id="rId10"/>
    <p:sldId id="298" r:id="rId11"/>
    <p:sldId id="299" r:id="rId12"/>
    <p:sldId id="28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4FF6AF9-C646-43ED-6AB2-801981E45629}" name="Letalien, Bethany" initials="LB" userId="S::Bethany.Letalien@opm.gov::56670f19-73fe-448b-a517-77bedf18db2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3759"/>
    <a:srgbClr val="737577"/>
    <a:srgbClr val="D14045"/>
    <a:srgbClr val="22A0D2"/>
    <a:srgbClr val="215D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1CB92B-A201-4442-8283-43670F8B251E}" v="25" dt="2025-07-25T16:39:18.2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8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Source Sans Pro" panose="020B0503030403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Source Sans Pro" panose="020B0503030403020204" pitchFamily="34" charset="0"/>
              </a:defRPr>
            </a:lvl1pPr>
          </a:lstStyle>
          <a:p>
            <a:fld id="{30F366FF-8BA2-4256-B8BC-466BADF47731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Source Sans Pro" panose="020B0503030403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Source Sans Pro" panose="020B0503030403020204" pitchFamily="34" charset="0"/>
              </a:defRPr>
            </a:lvl1pPr>
          </a:lstStyle>
          <a:p>
            <a:fld id="{560331E9-FE49-4B5C-9E3B-291FB4E4A5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665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Source Sans Pro" panose="020B0503030403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Source Sans Pro" panose="020B0503030403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Source Sans Pro" panose="020B0503030403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Source Sans Pro" panose="020B0503030403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Source Sans Pro" panose="020B0503030403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31E9-FE49-4B5C-9E3B-291FB4E4A5A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408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2C7C0B4-5B9C-433E-893E-C323B6D8B49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71600" y="1371600"/>
            <a:ext cx="9372600" cy="2209759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4800" b="1" i="0">
                <a:solidFill>
                  <a:srgbClr val="073759"/>
                </a:solidFill>
                <a:latin typeface="Source Sans Pro" panose="020B050303040302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Title Text Which is Preferably Two Lines Max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EB470DC-A210-8712-5109-D2B1A3621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94159" y="6381736"/>
            <a:ext cx="1222248" cy="2476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rgbClr val="215D8C"/>
                </a:solidFill>
                <a:latin typeface="Source Sans Pro" panose="020B0503030403020204" pitchFamily="34" charset="0"/>
              </a:defRPr>
            </a:lvl1pPr>
          </a:lstStyle>
          <a:p>
            <a:fld id="{4A217ABC-3BCB-4F47-AC3C-9D51779515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54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2 - Title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CB304BA-D388-4DF9-A5FF-7B9CEF74DAD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71600" y="1371600"/>
            <a:ext cx="9372600" cy="2209759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4800" b="1" i="0">
                <a:solidFill>
                  <a:srgbClr val="073759"/>
                </a:solidFill>
                <a:latin typeface="Source Sans Pro" panose="020B050303040302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Title Text Which is Preferably Two Lines Max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F264D97-C971-4789-BF10-1BA67AE0838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71600" y="3810000"/>
            <a:ext cx="9372600" cy="6270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3200" b="0" i="0">
                <a:solidFill>
                  <a:srgbClr val="737577"/>
                </a:solidFill>
                <a:latin typeface="Source Sans Pro Semibold" panose="020B050303040302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9616FC7-18BD-BCA8-FC08-28B6756699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94159" y="6381736"/>
            <a:ext cx="1222248" cy="2476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rgbClr val="215D8C"/>
                </a:solidFill>
                <a:latin typeface="Source Sans Pro" panose="020B0503030403020204" pitchFamily="34" charset="0"/>
              </a:defRPr>
            </a:lvl1pPr>
          </a:lstStyle>
          <a:p>
            <a:fld id="{4A217ABC-3BCB-4F47-AC3C-9D51779515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893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 - Section Break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5DBE439-213A-371F-3AAB-5B0DFC335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65760"/>
            <a:ext cx="12192000" cy="5486400"/>
          </a:xfrm>
          <a:prstGeom prst="rect">
            <a:avLst/>
          </a:prstGeom>
          <a:solidFill>
            <a:srgbClr val="0737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5A8D78-3D16-49E9-9C03-829DF60ED5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0" y="1828800"/>
            <a:ext cx="9448800" cy="22098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>
              <a:defRPr sz="4800" b="1" i="0" spc="-30" baseline="0">
                <a:solidFill>
                  <a:schemeClr val="bg1"/>
                </a:solidFill>
                <a:latin typeface="Source Sans Pro" panose="020B050303040302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Section Title Text Which is Preferably Two Lines Max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E04F461-4BCC-9126-DFE9-F2945298C8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94159" y="6381736"/>
            <a:ext cx="1222248" cy="2476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rgbClr val="215D8C"/>
                </a:solidFill>
                <a:latin typeface="Source Sans Pro" panose="020B0503030403020204" pitchFamily="34" charset="0"/>
              </a:defRPr>
            </a:lvl1pPr>
          </a:lstStyle>
          <a:p>
            <a:fld id="{4A217ABC-3BCB-4F47-AC3C-9D51779515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448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4 - Section Break -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5DBE439-213A-371F-3AAB-5B0DFC335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65760"/>
            <a:ext cx="12192000" cy="5486400"/>
          </a:xfrm>
          <a:prstGeom prst="rect">
            <a:avLst/>
          </a:prstGeom>
          <a:solidFill>
            <a:srgbClr val="7375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819CC31-9AB3-47B4-9644-2894DB252C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0" y="1828800"/>
            <a:ext cx="9448800" cy="22098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>
              <a:defRPr sz="4800" b="1" i="0" spc="-30" baseline="0">
                <a:solidFill>
                  <a:schemeClr val="bg1"/>
                </a:solidFill>
                <a:latin typeface="Source Sans Pro" panose="020B050303040302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Section Title Text Which is Preferably Two Lines Max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5F9BA70-8CBE-0F6D-93A5-C4514DBFFC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94159" y="6381736"/>
            <a:ext cx="1222248" cy="2476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rgbClr val="215D8C"/>
                </a:solidFill>
                <a:latin typeface="Source Sans Pro" panose="020B0503030403020204" pitchFamily="34" charset="0"/>
              </a:defRPr>
            </a:lvl1pPr>
          </a:lstStyle>
          <a:p>
            <a:fld id="{4A217ABC-3BCB-4F47-AC3C-9D51779515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301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1 - Content -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50732-224A-488B-B36C-A7BCCC6F43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777240"/>
            <a:ext cx="10972800" cy="1051560"/>
          </a:xfrm>
          <a:prstGeom prst="rect">
            <a:avLst/>
          </a:prstGeom>
        </p:spPr>
        <p:txBody>
          <a:bodyPr/>
          <a:lstStyle>
            <a:lvl1pPr algn="l">
              <a:defRPr lang="en-US" sz="3600" b="1" i="0" kern="1200" dirty="0">
                <a:solidFill>
                  <a:srgbClr val="073759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</a:lstStyle>
          <a:p>
            <a:pPr lvl="0"/>
            <a:r>
              <a:rPr lang="en-US"/>
              <a:t>Content Slide Heading Text, Do Not Resize</a:t>
            </a:r>
            <a:br>
              <a:rPr lang="en-US"/>
            </a:br>
            <a:r>
              <a:rPr lang="en-US"/>
              <a:t>Two Lines of Text OK if Necessary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ABBF6-D0BA-4B4B-8FF9-4CD4B5BD5CF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5800" y="1947672"/>
            <a:ext cx="10972800" cy="36576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Source Sans Pro" panose="020B0503030403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latin typeface="Source Sans Pro" panose="020B0503030403020204" pitchFamily="34" charset="0"/>
              </a:defRPr>
            </a:lvl2pPr>
            <a:lvl3pPr>
              <a:defRPr b="0" i="0">
                <a:latin typeface="Source Sans Pro" panose="020B0503030403020204" pitchFamily="34" charset="0"/>
              </a:defRPr>
            </a:lvl3pPr>
            <a:lvl4pPr marL="1600200" indent="-228600">
              <a:buFont typeface="Calibri" panose="020F0502020204030204" pitchFamily="34" charset="0"/>
              <a:buChar char="—"/>
              <a:defRPr b="0" i="0">
                <a:latin typeface="Source Sans Pro" panose="020B0503030403020204" pitchFamily="34" charset="0"/>
              </a:defRPr>
            </a:lvl4pPr>
            <a:lvl5pPr marL="2057400" indent="-228600">
              <a:buFont typeface="Calibri" panose="020F0502020204030204" pitchFamily="34" charset="0"/>
              <a:buChar char="–"/>
              <a:defRPr b="0" i="0"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DB62E-1EA5-1A6E-A7A2-B82365FD8A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A217ABC-3BCB-4F47-AC3C-9D51779515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1534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2 - Content -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DE08B5E-53A6-4C00-B2E6-6402AD718C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777240"/>
            <a:ext cx="10972800" cy="1051560"/>
          </a:xfrm>
          <a:prstGeom prst="rect">
            <a:avLst/>
          </a:prstGeom>
        </p:spPr>
        <p:txBody>
          <a:bodyPr/>
          <a:lstStyle>
            <a:lvl1pPr algn="l">
              <a:defRPr lang="en-US" sz="3600" b="1" i="0" kern="1200" dirty="0">
                <a:solidFill>
                  <a:srgbClr val="073759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</a:lstStyle>
          <a:p>
            <a:pPr lvl="0"/>
            <a:r>
              <a:rPr lang="en-US"/>
              <a:t>Content Slide Heading Text, Do Not Resize</a:t>
            </a:r>
            <a:br>
              <a:rPr lang="en-US"/>
            </a:br>
            <a:r>
              <a:rPr lang="en-US"/>
              <a:t>Two Lines of Text OK if Necessary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F92A5C82-73E5-497D-B504-72A1437DF13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5800" y="1947672"/>
            <a:ext cx="10972800" cy="35052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Source Sans Pro" panose="020B0503030403020204" pitchFamily="34" charset="0"/>
              </a:defRPr>
            </a:lvl1pPr>
          </a:lstStyle>
          <a:p>
            <a:endParaRPr lang="en-US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A2236E5F-0DED-3AAD-7F57-DD972B830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17ABC-3BCB-4F47-AC3C-9D51779515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210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3 - Content - Pic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6215AD7-01B4-4B90-A8B0-69A3C9624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777240"/>
            <a:ext cx="10972800" cy="1051560"/>
          </a:xfrm>
          <a:prstGeom prst="rect">
            <a:avLst/>
          </a:prstGeom>
        </p:spPr>
        <p:txBody>
          <a:bodyPr/>
          <a:lstStyle>
            <a:lvl1pPr algn="l">
              <a:defRPr lang="en-US" sz="3600" b="1" i="0" kern="1200" dirty="0">
                <a:solidFill>
                  <a:srgbClr val="073759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Content Slide Heading Text, Do Not Resize</a:t>
            </a:r>
            <a:br>
              <a:rPr lang="en-US"/>
            </a:br>
            <a:r>
              <a:rPr lang="en-US"/>
              <a:t>Two Lines of Text OK if Necessary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F92A5C82-73E5-497D-B504-72A1437DF13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5800" y="1947672"/>
            <a:ext cx="10972800" cy="336934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Source Sans Pro" panose="020B0503030403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60417D21-28C8-4E1D-A3BD-BC83E9262B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5317012"/>
            <a:ext cx="10972800" cy="7120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Click to edit caption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FEF64F82-60DE-4C58-A65B-D99920DC1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94159" y="6381736"/>
            <a:ext cx="1222248" cy="247664"/>
          </a:xfrm>
        </p:spPr>
        <p:txBody>
          <a:bodyPr/>
          <a:lstStyle/>
          <a:p>
            <a:fld id="{4A217ABC-3BCB-4F47-AC3C-9D51779515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494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4 - Content - Speaker 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374A78C-4230-4A94-84C4-60DD93C257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777240"/>
            <a:ext cx="10972800" cy="512064"/>
          </a:xfrm>
          <a:prstGeom prst="rect">
            <a:avLst/>
          </a:prstGeom>
        </p:spPr>
        <p:txBody>
          <a:bodyPr/>
          <a:lstStyle>
            <a:lvl1pPr algn="l">
              <a:defRPr lang="en-US" sz="3600" b="1" i="0" kern="1200" dirty="0">
                <a:solidFill>
                  <a:srgbClr val="073759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</a:lstStyle>
          <a:p>
            <a:pPr lvl="0"/>
            <a:r>
              <a:rPr lang="en-US"/>
              <a:t>Bio Slide Name Text, Do Not Resize, 1 line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F0D0860-DEC3-3BC7-75A9-27E92F3CF7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5800" y="1321677"/>
            <a:ext cx="7086600" cy="5071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>
                <a:solidFill>
                  <a:srgbClr val="737577"/>
                </a:solidFill>
                <a:latin typeface="Source Sans Pro Semibold" panose="020B0503030403020204" pitchFamily="34" charset="0"/>
              </a:defRPr>
            </a:lvl1pPr>
          </a:lstStyle>
          <a:p>
            <a:pPr lvl="0"/>
            <a:r>
              <a:rPr lang="en-US"/>
              <a:t>Speaker Title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314C1941-CA52-D1F9-33CD-1843394659D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34528" y="1944429"/>
            <a:ext cx="3657600" cy="3657600"/>
          </a:xfrm>
          <a:prstGeom prst="ellipse">
            <a:avLst/>
          </a:prstGeom>
        </p:spPr>
        <p:txBody>
          <a:bodyPr/>
          <a:lstStyle>
            <a:lvl1pPr>
              <a:defRPr b="0" i="0">
                <a:latin typeface="Source Sans Pro" panose="020B0503030403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7286CC6D-4B31-4ED1-AD46-ACA924F309D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85800" y="1947672"/>
            <a:ext cx="7086600" cy="399592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Source Sans Pro" panose="020B0503030403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latin typeface="Source Sans Pro" panose="020B0503030403020204" pitchFamily="34" charset="0"/>
              </a:defRPr>
            </a:lvl2pPr>
            <a:lvl3pPr>
              <a:defRPr b="0" i="0">
                <a:latin typeface="Source Sans Pro" panose="020B0503030403020204" pitchFamily="34" charset="0"/>
              </a:defRPr>
            </a:lvl3pPr>
            <a:lvl4pPr marL="1600200" indent="-228600">
              <a:buFont typeface="Calibri" panose="020F0502020204030204" pitchFamily="34" charset="0"/>
              <a:buChar char="—"/>
              <a:defRPr b="0" i="0">
                <a:latin typeface="Source Sans Pro" panose="020B0503030403020204" pitchFamily="34" charset="0"/>
              </a:defRPr>
            </a:lvl4pPr>
            <a:lvl5pPr marL="2057400" indent="-228600">
              <a:buFont typeface="Calibri" panose="020F0502020204030204" pitchFamily="34" charset="0"/>
              <a:buChar char="–"/>
              <a:defRPr b="0" i="0"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19316B9-6C9A-B493-586D-BC06AC4EC64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A217ABC-3BCB-4F47-AC3C-9D51779515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233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5 - Content -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71B823-2CF7-4496-BAC1-DB1F9A6E0B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777240"/>
            <a:ext cx="10972800" cy="1051560"/>
          </a:xfrm>
          <a:prstGeom prst="rect">
            <a:avLst/>
          </a:prstGeom>
        </p:spPr>
        <p:txBody>
          <a:bodyPr/>
          <a:lstStyle>
            <a:lvl1pPr algn="l">
              <a:defRPr lang="en-US" sz="3600" b="1" i="0" kern="1200" dirty="0">
                <a:solidFill>
                  <a:srgbClr val="073759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</a:lstStyle>
          <a:p>
            <a:pPr lvl="0"/>
            <a:r>
              <a:rPr lang="en-US"/>
              <a:t>Content Slide Heading Text, Do Not Resize</a:t>
            </a:r>
            <a:br>
              <a:rPr lang="en-US"/>
            </a:br>
            <a:r>
              <a:rPr lang="en-US"/>
              <a:t>Two Lines of Text OK if Necessary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286CC6D-4B31-4ED1-AD46-ACA924F309D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85800" y="1947672"/>
            <a:ext cx="5410200" cy="399592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Source Sans Pro" panose="020B0503030403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latin typeface="Source Sans Pro" panose="020B0503030403020204" pitchFamily="34" charset="0"/>
              </a:defRPr>
            </a:lvl2pPr>
            <a:lvl3pPr>
              <a:defRPr b="0" i="0">
                <a:latin typeface="Source Sans Pro" panose="020B0503030403020204" pitchFamily="34" charset="0"/>
              </a:defRPr>
            </a:lvl3pPr>
            <a:lvl4pPr marL="1600200" indent="-228600">
              <a:buFont typeface="Calibri" panose="020F0502020204030204" pitchFamily="34" charset="0"/>
              <a:buChar char="—"/>
              <a:defRPr b="0" i="0">
                <a:latin typeface="Source Sans Pro" panose="020B0503030403020204" pitchFamily="34" charset="0"/>
              </a:defRPr>
            </a:lvl4pPr>
            <a:lvl5pPr marL="2057400" indent="-228600">
              <a:buFont typeface="Calibri" panose="020F0502020204030204" pitchFamily="34" charset="0"/>
              <a:buChar char="–"/>
              <a:defRPr b="0" i="0"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AF940A08-2128-4454-8A6E-939F51C713E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172200" y="1947672"/>
            <a:ext cx="5410200" cy="399592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Source Sans Pro" panose="020B0503030403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latin typeface="Source Sans Pro" panose="020B0503030403020204" pitchFamily="34" charset="0"/>
              </a:defRPr>
            </a:lvl2pPr>
            <a:lvl3pPr>
              <a:defRPr b="0" i="0">
                <a:latin typeface="Source Sans Pro" panose="020B0503030403020204" pitchFamily="34" charset="0"/>
              </a:defRPr>
            </a:lvl3pPr>
            <a:lvl4pPr marL="1600200" indent="-228600">
              <a:buFont typeface="Calibri" panose="020F0502020204030204" pitchFamily="34" charset="0"/>
              <a:buChar char="—"/>
              <a:defRPr b="0" i="0">
                <a:latin typeface="Source Sans Pro" panose="020B0503030403020204" pitchFamily="34" charset="0"/>
              </a:defRPr>
            </a:lvl4pPr>
            <a:lvl5pPr marL="2057400" indent="-228600">
              <a:buFont typeface="Calibri" panose="020F0502020204030204" pitchFamily="34" charset="0"/>
              <a:buChar char="–"/>
              <a:defRPr b="0" i="0"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619316B9-6C9A-B493-586D-BC06AC4EC64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A217ABC-3BCB-4F47-AC3C-9D51779515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082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6 - Content -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2DFA54-A328-4D44-B1EB-7132BD99A1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777240"/>
            <a:ext cx="10972800" cy="1051560"/>
          </a:xfrm>
          <a:prstGeom prst="rect">
            <a:avLst/>
          </a:prstGeom>
        </p:spPr>
        <p:txBody>
          <a:bodyPr/>
          <a:lstStyle>
            <a:lvl1pPr algn="l">
              <a:defRPr lang="en-US" sz="3600" b="1" i="0" kern="1200" dirty="0">
                <a:solidFill>
                  <a:srgbClr val="073759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</a:lstStyle>
          <a:p>
            <a:pPr lvl="0"/>
            <a:r>
              <a:rPr lang="en-US"/>
              <a:t>Content Slide Heading Text, Do Not Resize</a:t>
            </a:r>
            <a:br>
              <a:rPr lang="en-US"/>
            </a:br>
            <a:r>
              <a:rPr lang="en-US"/>
              <a:t>Two Lines of Text OK if Necessary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5C43E-AC43-4B78-B005-2E8338025BB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5800" y="1947672"/>
            <a:ext cx="5394960" cy="4476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 i="0">
                <a:latin typeface="Source Sans Pro" panose="020B05030304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D46E1EB-E55C-4927-A124-DE115DDC06F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85799" y="2395347"/>
            <a:ext cx="5394960" cy="3548253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Source Sans Pro" panose="020B0503030403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latin typeface="Source Sans Pro" panose="020B0503030403020204" pitchFamily="34" charset="0"/>
              </a:defRPr>
            </a:lvl2pPr>
            <a:lvl3pPr>
              <a:defRPr b="0" i="0">
                <a:latin typeface="Source Sans Pro" panose="020B0503030403020204" pitchFamily="34" charset="0"/>
              </a:defRPr>
            </a:lvl3pPr>
            <a:lvl4pPr marL="1600200" indent="-228600">
              <a:buFont typeface="Calibri" panose="020F0502020204030204" pitchFamily="34" charset="0"/>
              <a:buChar char="—"/>
              <a:defRPr b="0" i="0">
                <a:latin typeface="Source Sans Pro" panose="020B0503030403020204" pitchFamily="34" charset="0"/>
              </a:defRPr>
            </a:lvl4pPr>
            <a:lvl5pPr marL="2057400" indent="-228600">
              <a:buFont typeface="Calibri" panose="020F0502020204030204" pitchFamily="34" charset="0"/>
              <a:buChar char="–"/>
              <a:defRPr b="0" i="0"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A52F0A-6B4C-47F0-9293-5096A2DEE5E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67270" y="1947672"/>
            <a:ext cx="5394960" cy="44767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 i="0">
                <a:latin typeface="Source Sans Pro" panose="020B05030304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EE54E60A-6A43-4EFD-9F38-EF6901AE370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263640" y="2395347"/>
            <a:ext cx="5394960" cy="3548253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Source Sans Pro" panose="020B0503030403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latin typeface="Source Sans Pro" panose="020B0503030403020204" pitchFamily="34" charset="0"/>
              </a:defRPr>
            </a:lvl2pPr>
            <a:lvl3pPr>
              <a:defRPr b="0" i="0">
                <a:latin typeface="Source Sans Pro" panose="020B0503030403020204" pitchFamily="34" charset="0"/>
              </a:defRPr>
            </a:lvl3pPr>
            <a:lvl4pPr marL="1600200" indent="-228600">
              <a:buFont typeface="Calibri" panose="020F0502020204030204" pitchFamily="34" charset="0"/>
              <a:buChar char="—"/>
              <a:defRPr b="0" i="0">
                <a:latin typeface="Source Sans Pro" panose="020B0503030403020204" pitchFamily="34" charset="0"/>
              </a:defRPr>
            </a:lvl4pPr>
            <a:lvl5pPr marL="2057400" indent="-228600">
              <a:buFont typeface="Calibri" panose="020F0502020204030204" pitchFamily="34" charset="0"/>
              <a:buChar char="–"/>
              <a:defRPr b="0" i="0"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8B3834EE-BB8D-48FC-BBD4-83C66929E5C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494159" y="6381736"/>
            <a:ext cx="1222248" cy="247664"/>
          </a:xfrm>
        </p:spPr>
        <p:txBody>
          <a:bodyPr/>
          <a:lstStyle/>
          <a:p>
            <a:fld id="{4A217ABC-3BCB-4F47-AC3C-9D51779515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194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7 - Content - Pic with attribution,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F85A425-1D60-4DAE-ABB1-08A1922DFE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777240"/>
            <a:ext cx="10972800" cy="1051560"/>
          </a:xfrm>
          <a:prstGeom prst="rect">
            <a:avLst/>
          </a:prstGeom>
        </p:spPr>
        <p:txBody>
          <a:bodyPr/>
          <a:lstStyle>
            <a:lvl1pPr algn="l">
              <a:defRPr lang="en-US" sz="3600" b="1" i="0" kern="1200" dirty="0">
                <a:solidFill>
                  <a:srgbClr val="073759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</a:lstStyle>
          <a:p>
            <a:pPr lvl="0"/>
            <a:r>
              <a:rPr lang="en-US"/>
              <a:t>Content Slide Heading Text, Do Not Resize</a:t>
            </a:r>
            <a:br>
              <a:rPr lang="en-US"/>
            </a:br>
            <a:r>
              <a:rPr lang="en-US"/>
              <a:t>Two Lines of Text OK if Necessary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A3AAAB36-FEBD-4FD1-98A1-6E7F8980FF2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5800" y="1947672"/>
            <a:ext cx="5334000" cy="346252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Source Sans Pro" panose="020B0503030403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9D38A98-7BD3-467C-BBB7-D41B920CAA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5410200"/>
            <a:ext cx="5334000" cy="533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Attribution, caption, or both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36CEC7BC-F243-4114-A99A-ED9C2033375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172200" y="1947672"/>
            <a:ext cx="5486400" cy="399592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Source Sans Pro" panose="020B0503030403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latin typeface="Source Sans Pro" panose="020B0503030403020204" pitchFamily="34" charset="0"/>
              </a:defRPr>
            </a:lvl2pPr>
            <a:lvl3pPr>
              <a:defRPr b="0" i="0">
                <a:latin typeface="Source Sans Pro" panose="020B0503030403020204" pitchFamily="34" charset="0"/>
              </a:defRPr>
            </a:lvl3pPr>
            <a:lvl4pPr marL="1600200" indent="-228600">
              <a:buFont typeface="Calibri" panose="020F0502020204030204" pitchFamily="34" charset="0"/>
              <a:buChar char="—"/>
              <a:defRPr b="0" i="0">
                <a:latin typeface="Source Sans Pro" panose="020B0503030403020204" pitchFamily="34" charset="0"/>
              </a:defRPr>
            </a:lvl4pPr>
            <a:lvl5pPr marL="2057400" indent="-228600">
              <a:buFont typeface="Calibri" panose="020F0502020204030204" pitchFamily="34" charset="0"/>
              <a:buChar char="–"/>
              <a:defRPr b="0" i="0"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C754BC7-D89B-4C33-B66E-403C17197EB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494159" y="6381736"/>
            <a:ext cx="1222248" cy="247664"/>
          </a:xfrm>
        </p:spPr>
        <p:txBody>
          <a:bodyPr/>
          <a:lstStyle/>
          <a:p>
            <a:fld id="{4A217ABC-3BCB-4F47-AC3C-9D51779515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883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8 - Content - Pic with attribution,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4CA32B0-92AE-45B3-875D-05DF5DE078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777240"/>
            <a:ext cx="10972800" cy="1051560"/>
          </a:xfrm>
          <a:prstGeom prst="rect">
            <a:avLst/>
          </a:prstGeom>
        </p:spPr>
        <p:txBody>
          <a:bodyPr/>
          <a:lstStyle>
            <a:lvl1pPr algn="l">
              <a:defRPr lang="en-US" sz="3600" b="1" i="0" kern="1200" dirty="0">
                <a:solidFill>
                  <a:srgbClr val="073759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</a:lstStyle>
          <a:p>
            <a:pPr lvl="0"/>
            <a:r>
              <a:rPr lang="en-US"/>
              <a:t>Content Slide Heading Text, Do Not Resize</a:t>
            </a:r>
            <a:br>
              <a:rPr lang="en-US"/>
            </a:br>
            <a:r>
              <a:rPr lang="en-US"/>
              <a:t>Two Lines of Text OK if Necessary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98B3BC5-A6CA-4313-B898-F6012DFF30EC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83172" y="1947672"/>
            <a:ext cx="5181600" cy="39381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Source Sans Pro" panose="020B0503030403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latin typeface="Source Sans Pro" panose="020B0503030403020204" pitchFamily="34" charset="0"/>
              </a:defRPr>
            </a:lvl2pPr>
            <a:lvl3pPr>
              <a:defRPr b="0" i="0">
                <a:latin typeface="Source Sans Pro" panose="020B0503030403020204" pitchFamily="34" charset="0"/>
              </a:defRPr>
            </a:lvl3pPr>
            <a:lvl4pPr marL="1600200" indent="-228600">
              <a:buFont typeface="Calibri" panose="020F0502020204030204" pitchFamily="34" charset="0"/>
              <a:buChar char="—"/>
              <a:defRPr b="0" i="0">
                <a:latin typeface="Source Sans Pro" panose="020B0503030403020204" pitchFamily="34" charset="0"/>
              </a:defRPr>
            </a:lvl4pPr>
            <a:lvl5pPr marL="2057400" indent="-228600">
              <a:buFont typeface="Calibri" panose="020F0502020204030204" pitchFamily="34" charset="0"/>
              <a:buChar char="–"/>
              <a:defRPr b="0" i="0"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F16E91E8-B9C5-4949-A876-0D13E837EA0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28786" y="1947672"/>
            <a:ext cx="5629814" cy="35235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Source Sans Pro" panose="020B0503030403020204" pitchFamily="34" charset="0"/>
              </a:defRPr>
            </a:lvl1pPr>
          </a:lstStyle>
          <a:p>
            <a:r>
              <a:rPr lang="en-US"/>
              <a:t>Image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1E2F1DAF-C261-43BE-9483-CE4C7A71FD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28786" y="5471265"/>
            <a:ext cx="5629814" cy="4145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US"/>
              <a:t>Attribution, caption, or both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277E746-D935-42BD-B47B-80BDBC45C90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494159" y="6381736"/>
            <a:ext cx="1222248" cy="247664"/>
          </a:xfrm>
        </p:spPr>
        <p:txBody>
          <a:bodyPr/>
          <a:lstStyle/>
          <a:p>
            <a:fld id="{4A217ABC-3BCB-4F47-AC3C-9D51779515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2253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9 - Content - 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4701EDE-C3D1-4390-9206-337A636336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777240"/>
            <a:ext cx="10972800" cy="1051560"/>
          </a:xfrm>
          <a:prstGeom prst="rect">
            <a:avLst/>
          </a:prstGeom>
        </p:spPr>
        <p:txBody>
          <a:bodyPr/>
          <a:lstStyle>
            <a:lvl1pPr algn="l">
              <a:defRPr lang="en-US" sz="3600" b="1" i="0" kern="1200" dirty="0">
                <a:solidFill>
                  <a:srgbClr val="073759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</a:lstStyle>
          <a:p>
            <a:pPr lvl="0"/>
            <a:r>
              <a:rPr lang="en-US"/>
              <a:t>Content Slide Heading Text, Do Not Resize</a:t>
            </a:r>
            <a:br>
              <a:rPr lang="en-US"/>
            </a:br>
            <a:r>
              <a:rPr lang="en-US"/>
              <a:t>Two Lines of Text OK if Necessary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286CC6D-4B31-4ED1-AD46-ACA924F309D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85800" y="1947672"/>
            <a:ext cx="3429000" cy="399592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Source Sans Pro" panose="020B0503030403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latin typeface="Source Sans Pro" panose="020B0503030403020204" pitchFamily="34" charset="0"/>
              </a:defRPr>
            </a:lvl2pPr>
            <a:lvl3pPr>
              <a:defRPr b="0" i="0">
                <a:latin typeface="Source Sans Pro" panose="020B0503030403020204" pitchFamily="34" charset="0"/>
              </a:defRPr>
            </a:lvl3pPr>
            <a:lvl4pPr marL="1600200" indent="-228600">
              <a:buFont typeface="Calibri" panose="020F0502020204030204" pitchFamily="34" charset="0"/>
              <a:buChar char="—"/>
              <a:defRPr b="0" i="0">
                <a:latin typeface="Source Sans Pro" panose="020B0503030403020204" pitchFamily="34" charset="0"/>
              </a:defRPr>
            </a:lvl4pPr>
            <a:lvl5pPr marL="2057400" indent="-228600">
              <a:buFont typeface="Calibri" panose="020F0502020204030204" pitchFamily="34" charset="0"/>
              <a:buChar char="–"/>
              <a:defRPr b="0" i="0"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AF940A08-2128-4454-8A6E-939F51C713E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417189" y="1947672"/>
            <a:ext cx="3429000" cy="399592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Source Sans Pro" panose="020B0503030403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latin typeface="Source Sans Pro" panose="020B0503030403020204" pitchFamily="34" charset="0"/>
              </a:defRPr>
            </a:lvl2pPr>
            <a:lvl3pPr>
              <a:defRPr b="0" i="0">
                <a:latin typeface="Source Sans Pro" panose="020B0503030403020204" pitchFamily="34" charset="0"/>
              </a:defRPr>
            </a:lvl3pPr>
            <a:lvl4pPr marL="1600200" indent="-228600">
              <a:buFont typeface="Calibri" panose="020F0502020204030204" pitchFamily="34" charset="0"/>
              <a:buChar char="—"/>
              <a:defRPr b="0" i="0">
                <a:latin typeface="Source Sans Pro" panose="020B0503030403020204" pitchFamily="34" charset="0"/>
              </a:defRPr>
            </a:lvl4pPr>
            <a:lvl5pPr marL="2057400" indent="-228600">
              <a:buFont typeface="Calibri" panose="020F0502020204030204" pitchFamily="34" charset="0"/>
              <a:buChar char="–"/>
              <a:defRPr b="0" i="0"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000EA425-D0B3-0554-7947-F6D6F43757E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148578" y="1947672"/>
            <a:ext cx="3510022" cy="399592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Source Sans Pro" panose="020B0503030403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latin typeface="Source Sans Pro" panose="020B0503030403020204" pitchFamily="34" charset="0"/>
              </a:defRPr>
            </a:lvl2pPr>
            <a:lvl3pPr>
              <a:defRPr b="0" i="0">
                <a:latin typeface="Source Sans Pro" panose="020B0503030403020204" pitchFamily="34" charset="0"/>
              </a:defRPr>
            </a:lvl3pPr>
            <a:lvl4pPr marL="1600200" indent="-228600">
              <a:buFont typeface="Calibri" panose="020F0502020204030204" pitchFamily="34" charset="0"/>
              <a:buChar char="—"/>
              <a:defRPr b="0" i="0">
                <a:latin typeface="Source Sans Pro" panose="020B0503030403020204" pitchFamily="34" charset="0"/>
              </a:defRPr>
            </a:lvl4pPr>
            <a:lvl5pPr marL="2057400" indent="-228600">
              <a:buFont typeface="Calibri" panose="020F0502020204030204" pitchFamily="34" charset="0"/>
              <a:buChar char="–"/>
              <a:defRPr b="0" i="0"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47C6E-5FCC-4BD3-9026-9A1B92CAB2C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0494159" y="6381736"/>
            <a:ext cx="1222248" cy="247664"/>
          </a:xfrm>
        </p:spPr>
        <p:txBody>
          <a:bodyPr/>
          <a:lstStyle/>
          <a:p>
            <a:fld id="{4A217ABC-3BCB-4F47-AC3C-9D51779515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3603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10 - Content - Three Columns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29097B4-6CDC-471F-ABEF-713886F792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777240"/>
            <a:ext cx="10972800" cy="1051560"/>
          </a:xfrm>
          <a:prstGeom prst="rect">
            <a:avLst/>
          </a:prstGeom>
        </p:spPr>
        <p:txBody>
          <a:bodyPr/>
          <a:lstStyle>
            <a:lvl1pPr algn="l">
              <a:defRPr lang="en-US" sz="3600" b="1" i="0" kern="1200" dirty="0">
                <a:solidFill>
                  <a:srgbClr val="073759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</a:lstStyle>
          <a:p>
            <a:pPr lvl="0"/>
            <a:r>
              <a:rPr lang="en-US"/>
              <a:t>Content Slide Heading Text, Do Not Resize</a:t>
            </a:r>
            <a:br>
              <a:rPr lang="en-US"/>
            </a:br>
            <a:r>
              <a:rPr lang="en-US"/>
              <a:t>Two Lines of Text OK if Necessary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1BC8AB1-10A2-AF8F-F751-438CB5037E8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5800" y="1947672"/>
            <a:ext cx="3429000" cy="4476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 i="0">
                <a:latin typeface="Source Sans Pro" panose="020B05030304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7286CC6D-4B31-4ED1-AD46-ACA924F309D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85800" y="2512327"/>
            <a:ext cx="3429000" cy="3431273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Source Sans Pro" panose="020B0503030403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latin typeface="Source Sans Pro" panose="020B0503030403020204" pitchFamily="34" charset="0"/>
              </a:defRPr>
            </a:lvl2pPr>
            <a:lvl3pPr>
              <a:defRPr b="0" i="0">
                <a:latin typeface="Source Sans Pro" panose="020B0503030403020204" pitchFamily="34" charset="0"/>
              </a:defRPr>
            </a:lvl3pPr>
            <a:lvl4pPr marL="1600200" indent="-228600">
              <a:buFont typeface="Calibri" panose="020F0502020204030204" pitchFamily="34" charset="0"/>
              <a:buChar char="—"/>
              <a:defRPr b="0" i="0">
                <a:latin typeface="Source Sans Pro" panose="020B0503030403020204" pitchFamily="34" charset="0"/>
              </a:defRPr>
            </a:lvl4pPr>
            <a:lvl5pPr marL="2057400" indent="-228600">
              <a:buFont typeface="Calibri" panose="020F0502020204030204" pitchFamily="34" charset="0"/>
              <a:buChar char="–"/>
              <a:defRPr b="0" i="0"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ACA494F-80AA-0EBF-2DC1-D1A453776D0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83100" y="1947672"/>
            <a:ext cx="3429000" cy="44767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 i="0">
                <a:latin typeface="Source Sans Pro" panose="020B05030304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F940A08-2128-4454-8A6E-939F51C713E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480560" y="2512327"/>
            <a:ext cx="3429000" cy="3431273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Source Sans Pro" panose="020B0503030403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latin typeface="Source Sans Pro" panose="020B0503030403020204" pitchFamily="34" charset="0"/>
              </a:defRPr>
            </a:lvl2pPr>
            <a:lvl3pPr>
              <a:defRPr b="0" i="0">
                <a:latin typeface="Source Sans Pro" panose="020B0503030403020204" pitchFamily="34" charset="0"/>
              </a:defRPr>
            </a:lvl3pPr>
            <a:lvl4pPr marL="1600200" indent="-228600">
              <a:buFont typeface="Calibri" panose="020F0502020204030204" pitchFamily="34" charset="0"/>
              <a:buChar char="—"/>
              <a:defRPr b="0" i="0">
                <a:latin typeface="Source Sans Pro" panose="020B0503030403020204" pitchFamily="34" charset="0"/>
              </a:defRPr>
            </a:lvl4pPr>
            <a:lvl5pPr marL="2057400" indent="-228600">
              <a:buFont typeface="Calibri" panose="020F0502020204030204" pitchFamily="34" charset="0"/>
              <a:buChar char="–"/>
              <a:defRPr b="0" i="0"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E9E1424-9B3D-8B5A-4E1D-335B028117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29600" y="1947672"/>
            <a:ext cx="3429000" cy="44767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 i="0">
                <a:latin typeface="Source Sans Pro" panose="020B05030304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000EA425-D0B3-0554-7947-F6D6F43757E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229600" y="2512327"/>
            <a:ext cx="3429000" cy="3431273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Source Sans Pro" panose="020B0503030403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latin typeface="Source Sans Pro" panose="020B0503030403020204" pitchFamily="34" charset="0"/>
              </a:defRPr>
            </a:lvl2pPr>
            <a:lvl3pPr>
              <a:defRPr b="0" i="0">
                <a:latin typeface="Source Sans Pro" panose="020B0503030403020204" pitchFamily="34" charset="0"/>
              </a:defRPr>
            </a:lvl3pPr>
            <a:lvl4pPr marL="1600200" indent="-228600">
              <a:buFont typeface="Calibri" panose="020F0502020204030204" pitchFamily="34" charset="0"/>
              <a:buChar char="—"/>
              <a:defRPr b="0" i="0">
                <a:latin typeface="Source Sans Pro" panose="020B0503030403020204" pitchFamily="34" charset="0"/>
              </a:defRPr>
            </a:lvl4pPr>
            <a:lvl5pPr marL="2057400" indent="-228600">
              <a:buFont typeface="Calibri" panose="020F0502020204030204" pitchFamily="34" charset="0"/>
              <a:buChar char="–"/>
              <a:defRPr b="0" i="0"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408C5E-9679-4746-A088-14DDB23F6AC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494159" y="6381736"/>
            <a:ext cx="1222248" cy="247664"/>
          </a:xfrm>
        </p:spPr>
        <p:txBody>
          <a:bodyPr/>
          <a:lstStyle/>
          <a:p>
            <a:fld id="{4A217ABC-3BCB-4F47-AC3C-9D51779515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7011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1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2C7C0B4-5B9C-433E-893E-C323B6D8B49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71600" y="1371600"/>
            <a:ext cx="9372600" cy="2209759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defRPr sz="4800" b="1" i="0">
                <a:solidFill>
                  <a:srgbClr val="073759"/>
                </a:solidFill>
                <a:latin typeface="Source Sans Pro" panose="020B050303040302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Title Text Which is Preferably Two Lines Max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EB470DC-A210-8712-5109-D2B1A3621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94159" y="6381736"/>
            <a:ext cx="1222248" cy="2476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rgbClr val="215D8C"/>
                </a:solidFill>
                <a:latin typeface="Source Sans Pro" panose="020B0503030403020204" pitchFamily="34" charset="0"/>
              </a:defRPr>
            </a:lvl1pPr>
          </a:lstStyle>
          <a:p>
            <a:fld id="{4A217ABC-3BCB-4F47-AC3C-9D51779515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159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4.sv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4.svg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 descr="OPM brand elements: parallel horizontal stripes, one blue, one red, with overlay of thin wavy lines, together symbolize talent streams moving through open pathways of opportunity.">
            <a:extLst>
              <a:ext uri="{FF2B5EF4-FFF2-40B4-BE49-F238E27FC236}">
                <a16:creationId xmlns:a16="http://schemas.microsoft.com/office/drawing/2014/main" id="{32AA7E48-1558-CBB9-4F9D-F3B3FA9BF54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6479" y="0"/>
            <a:ext cx="12198477" cy="318914"/>
          </a:xfrm>
          <a:prstGeom prst="rect">
            <a:avLst/>
          </a:prstGeom>
        </p:spPr>
      </p:pic>
      <p:pic>
        <p:nvPicPr>
          <p:cNvPr id="8" name="Graphic 7" descr="OPM Logo">
            <a:extLst>
              <a:ext uri="{FF2B5EF4-FFF2-40B4-BE49-F238E27FC236}">
                <a16:creationId xmlns:a16="http://schemas.microsoft.com/office/drawing/2014/main" id="{B22BD645-6B9F-828E-2B3A-9558DE2728D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1000" y="6199632"/>
            <a:ext cx="2192308" cy="315646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5923DF9-FABA-E179-BA30-8ECBB7CFC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94159" y="6381736"/>
            <a:ext cx="1222248" cy="2476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rgbClr val="215D8C"/>
                </a:solidFill>
                <a:latin typeface="Source Sans Pro" panose="020B0503030403020204" pitchFamily="34" charset="0"/>
              </a:defRPr>
            </a:lvl1pPr>
          </a:lstStyle>
          <a:p>
            <a:fld id="{4A217ABC-3BCB-4F47-AC3C-9D51779515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948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49" r:id="rId2"/>
    <p:sldLayoutId id="2147483686" r:id="rId3"/>
    <p:sldLayoutId id="2147483693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OPM brand elements: parallel horizontal stripes, one blue, one red, with overlay of thin wavy lines, together symbolize talent streams moving through open pathways of opportunity.">
            <a:extLst>
              <a:ext uri="{FF2B5EF4-FFF2-40B4-BE49-F238E27FC236}">
                <a16:creationId xmlns:a16="http://schemas.microsoft.com/office/drawing/2014/main" id="{A5ECB75A-6F55-A4A2-21ED-AC232E5CCB0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6479" y="0"/>
            <a:ext cx="12198477" cy="318914"/>
          </a:xfrm>
          <a:prstGeom prst="rect">
            <a:avLst/>
          </a:prstGeom>
        </p:spPr>
      </p:pic>
      <p:pic>
        <p:nvPicPr>
          <p:cNvPr id="6" name="Graphic 5" descr="OPM Logo">
            <a:extLst>
              <a:ext uri="{FF2B5EF4-FFF2-40B4-BE49-F238E27FC236}">
                <a16:creationId xmlns:a16="http://schemas.microsoft.com/office/drawing/2014/main" id="{1378D4E6-E22D-0C11-C9A9-C632214821C9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81000" y="6199632"/>
            <a:ext cx="2192308" cy="315646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C6EB34F-25B4-378F-A228-9BCD91C8CD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94159" y="6381736"/>
            <a:ext cx="1222248" cy="2476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 i="0">
                <a:solidFill>
                  <a:srgbClr val="215D8C"/>
                </a:solidFill>
                <a:latin typeface="Source Sans Pro" panose="020B0503030403020204" pitchFamily="34" charset="0"/>
              </a:defRPr>
            </a:lvl1pPr>
          </a:lstStyle>
          <a:p>
            <a:fld id="{4A217ABC-3BCB-4F47-AC3C-9D51779515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871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0" r:id="rId2"/>
    <p:sldLayoutId id="2147483671" r:id="rId3"/>
    <p:sldLayoutId id="2147483694" r:id="rId4"/>
    <p:sldLayoutId id="2147483659" r:id="rId5"/>
    <p:sldLayoutId id="2147483660" r:id="rId6"/>
    <p:sldLayoutId id="2147483672" r:id="rId7"/>
    <p:sldLayoutId id="2147483673" r:id="rId8"/>
    <p:sldLayoutId id="2147483684" r:id="rId9"/>
    <p:sldLayoutId id="2147483685" r:id="rId10"/>
    <p:sldLayoutId id="2147483695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 spc="-30" baseline="0">
          <a:solidFill>
            <a:srgbClr val="073759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adb-2183330460229260.0.azuredatabricks.net/editor/notebooks/3659251365599305?o=2183330460229260#command/7657949442450838" TargetMode="Externa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996D8-CF06-4373-9344-41E906753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447801"/>
            <a:ext cx="10439400" cy="2209758"/>
          </a:xfrm>
          <a:prstGeom prst="rect">
            <a:avLst/>
          </a:prstGeom>
        </p:spPr>
        <p:txBody>
          <a:bodyPr/>
          <a:lstStyle/>
          <a:p>
            <a:r>
              <a:rPr lang="en-US" sz="3600" dirty="0"/>
              <a:t>Postal Service Health Benefits System (PSHBS)</a:t>
            </a:r>
            <a:br>
              <a:rPr lang="en-US" sz="3600" dirty="0"/>
            </a:br>
            <a:br>
              <a:rPr lang="en-US" sz="1400" dirty="0"/>
            </a:br>
            <a:r>
              <a:rPr lang="en-US" sz="4400" b="0" dirty="0"/>
              <a:t>Full Historical Carrier Enrollment </a:t>
            </a:r>
            <a:br>
              <a:rPr lang="en-US" sz="4400" b="0" dirty="0"/>
            </a:br>
            <a:r>
              <a:rPr lang="en-US" sz="4400" b="0" dirty="0"/>
              <a:t>Reconciliation Strategy</a:t>
            </a:r>
            <a:endParaRPr lang="en-US" sz="3600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3DC4E5-2EF2-E8A2-1BB4-503749B1DC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217ABC-3BCB-4F47-AC3C-9D517795156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49A63D-BA7F-4372-F7DF-1FA3D1747FA6}"/>
              </a:ext>
            </a:extLst>
          </p:cNvPr>
          <p:cNvSpPr txBox="1"/>
          <p:nvPr/>
        </p:nvSpPr>
        <p:spPr>
          <a:xfrm>
            <a:off x="693326" y="4667014"/>
            <a:ext cx="3642548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ea typeface="Source Sans Pro"/>
              </a:rPr>
              <a:t>July 24, 2025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58567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CF525-5874-FBDB-7F47-8289906E6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Full Historical</a:t>
            </a:r>
            <a:r>
              <a:rPr lang="en-US" sz="2800" b="1" dirty="0"/>
              <a:t> Carrier Enrollment Reconciliation Problem</a:t>
            </a: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1C95A-70C2-E900-0851-E6678EA7A1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A217ABC-3BCB-4F47-AC3C-9D5177951563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D9A554-8BB8-B2A1-DEEB-00A149330887}"/>
              </a:ext>
            </a:extLst>
          </p:cNvPr>
          <p:cNvSpPr txBox="1"/>
          <p:nvPr/>
        </p:nvSpPr>
        <p:spPr>
          <a:xfrm>
            <a:off x="685800" y="1659523"/>
            <a:ext cx="108992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Currently, End-Dated Coverage from prior months falls off the PSHBS Preaudit and Carrier MENR files  making it impossible to reconcile enrollments for the full plan year.</a:t>
            </a:r>
          </a:p>
          <a:p>
            <a:endParaRPr lang="en-US" sz="2000" dirty="0"/>
          </a:p>
          <a:p>
            <a:r>
              <a:rPr lang="en-US" sz="2000" dirty="0"/>
              <a:t>While the Deloitte team can retain end-dated coverage from prior months on the PSHBS Preaudit, we cannot expect all PSHB Carriers to make the same adjustment for the MENR in the same timeframe. </a:t>
            </a:r>
          </a:p>
          <a:p>
            <a:endParaRPr lang="en-US" sz="2000" dirty="0"/>
          </a:p>
          <a:p>
            <a:r>
              <a:rPr lang="en-US" sz="2000" dirty="0"/>
              <a:t>Since all prior Carrier MENR records are stored in PSHBS this strategy outlines how MENR end-dated coverage from prior months can be retained so that full historical Carrier Enrollment Reconciliation can be achieved.</a:t>
            </a:r>
          </a:p>
        </p:txBody>
      </p:sp>
    </p:spTree>
    <p:extLst>
      <p:ext uri="{BB962C8B-B14F-4D97-AF65-F5344CB8AC3E}">
        <p14:creationId xmlns:p14="http://schemas.microsoft.com/office/powerpoint/2010/main" val="499031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CF525-5874-FBDB-7F47-8289906E6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End-Dated Coverage from prior months falls off the Carrier MENR</a:t>
            </a: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1C95A-70C2-E900-0851-E6678EA7A1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A217ABC-3BCB-4F47-AC3C-9D517795156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D9A554-8BB8-B2A1-DEEB-00A149330887}"/>
              </a:ext>
            </a:extLst>
          </p:cNvPr>
          <p:cNvSpPr txBox="1"/>
          <p:nvPr/>
        </p:nvSpPr>
        <p:spPr>
          <a:xfrm>
            <a:off x="685800" y="1378854"/>
            <a:ext cx="1146025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PSHBS View of Enrollment Coverage Spans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Member 1 enrolled in APWU (23B) 1/1/2025 – 12/31/2025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Member 2 enrolled in BCBS (33B) 1/1/2025 – 3/15/2025 then BCBS (33C) 3/16/2025-12/31/2025 (plan change)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Member 3 enrolled in BCBS (33A) 1/1/2025 – 4/18/2025 then NALC (77A) 4/19/2025-6/10/2025 (plan change then termination)</a:t>
            </a:r>
          </a:p>
          <a:p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FB59C1-BC6C-4719-78D5-8DC0358E0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834" y="2594063"/>
            <a:ext cx="5559973" cy="12672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C584AA-E9D4-6262-761F-D25E76F59256}"/>
              </a:ext>
            </a:extLst>
          </p:cNvPr>
          <p:cNvSpPr txBox="1"/>
          <p:nvPr/>
        </p:nvSpPr>
        <p:spPr>
          <a:xfrm>
            <a:off x="685800" y="3964846"/>
            <a:ext cx="1019618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August MENR View of Enrollment Coverage Spans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Member 1 enrolled in APWU (23B) 1/1/2025 – 12/31/2025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Member 2 enrolled in BCBS (33C) 3/16/2025-12/31/2025, no 33B coverage span reported cannot be reconciled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No Member 3 enrollment coverage reported cannot be reconciled</a:t>
            </a:r>
          </a:p>
          <a:p>
            <a:endParaRPr lang="en-US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41C983-0DEF-A7E4-7B02-C217683C3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2098" y="5070674"/>
            <a:ext cx="5595443" cy="1010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935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CF525-5874-FBDB-7F47-8289906E6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200" b="1" dirty="0"/>
              <a:t>A ‘Full’ MENR is needed to compare against the ‘Full’ Preaudit. RCNO process needs to pull in MENR records from prior </a:t>
            </a:r>
            <a:r>
              <a:rPr lang="en-US" sz="2200" b="1" dirty="0" err="1"/>
              <a:t>recon_months</a:t>
            </a:r>
            <a:r>
              <a:rPr lang="en-US" sz="2200" b="1" dirty="0"/>
              <a:t> in </a:t>
            </a:r>
            <a:r>
              <a:rPr lang="en-US" sz="2200" b="1" dirty="0" err="1">
                <a:solidFill>
                  <a:schemeClr val="accent5"/>
                </a:solidFill>
              </a:rPr>
              <a:t>int_recon_menr_in_mly_stg</a:t>
            </a:r>
            <a:endParaRPr lang="en-US" sz="2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1C95A-70C2-E900-0851-E6678EA7A1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A217ABC-3BCB-4F47-AC3C-9D5177951563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EBAFC6-F643-E0A6-B660-639CA8B66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582" y="2010676"/>
            <a:ext cx="5991235" cy="3261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595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CF525-5874-FBDB-7F47-8289906E6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200" b="1" dirty="0"/>
              <a:t>The ‘Full’ </a:t>
            </a:r>
            <a:r>
              <a:rPr lang="en-US" sz="2200" b="1" dirty="0" err="1"/>
              <a:t>Preaudt</a:t>
            </a:r>
            <a:r>
              <a:rPr lang="en-US" sz="2200" b="1" dirty="0"/>
              <a:t> can then be compared with the ‘Full’ MENR with </a:t>
            </a:r>
            <a:r>
              <a:rPr lang="en-US" sz="2200" b="1" dirty="0">
                <a:solidFill>
                  <a:schemeClr val="accent5"/>
                </a:solidFill>
              </a:rPr>
              <a:t>PSHBS and MENR </a:t>
            </a:r>
            <a:r>
              <a:rPr lang="en-US" sz="2200" b="1" dirty="0" err="1">
                <a:solidFill>
                  <a:schemeClr val="accent5"/>
                </a:solidFill>
              </a:rPr>
              <a:t>recon_month</a:t>
            </a:r>
            <a:r>
              <a:rPr lang="en-US" sz="2200" b="1" dirty="0">
                <a:solidFill>
                  <a:schemeClr val="accent5"/>
                </a:solidFill>
              </a:rPr>
              <a:t> added </a:t>
            </a:r>
            <a:r>
              <a:rPr lang="en-US" sz="2200" b="1" dirty="0"/>
              <a:t>to the RCNO to identify MENR records taken from prior MENR files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1C95A-70C2-E900-0851-E6678EA7A1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A217ABC-3BCB-4F47-AC3C-9D5177951563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E5DF12-8E5C-E530-C41E-EBDDFCCC3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182" y="1934455"/>
            <a:ext cx="7428135" cy="389385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3BA285F-5CC9-FEA9-90A0-CFF7D7F6E2D5}"/>
              </a:ext>
            </a:extLst>
          </p:cNvPr>
          <p:cNvSpPr txBox="1"/>
          <p:nvPr/>
        </p:nvSpPr>
        <p:spPr>
          <a:xfrm>
            <a:off x="1519206" y="4263034"/>
            <a:ext cx="10342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Member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54E94F-FD8E-5DFF-953E-4A2DE2C44D7C}"/>
              </a:ext>
            </a:extLst>
          </p:cNvPr>
          <p:cNvSpPr txBox="1"/>
          <p:nvPr/>
        </p:nvSpPr>
        <p:spPr>
          <a:xfrm>
            <a:off x="1519206" y="4715194"/>
            <a:ext cx="10342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Member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57B6FE-F1BB-1377-0ACB-33353834DABE}"/>
              </a:ext>
            </a:extLst>
          </p:cNvPr>
          <p:cNvSpPr txBox="1"/>
          <p:nvPr/>
        </p:nvSpPr>
        <p:spPr>
          <a:xfrm>
            <a:off x="1519206" y="5244942"/>
            <a:ext cx="10342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Member 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0A714C-9EB8-4714-A83E-02B232C0AAE4}"/>
              </a:ext>
            </a:extLst>
          </p:cNvPr>
          <p:cNvSpPr txBox="1"/>
          <p:nvPr/>
        </p:nvSpPr>
        <p:spPr>
          <a:xfrm>
            <a:off x="1513009" y="2346020"/>
            <a:ext cx="10342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Member 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6C5BA8-3486-5B4C-B173-B8D4C4160D41}"/>
              </a:ext>
            </a:extLst>
          </p:cNvPr>
          <p:cNvSpPr txBox="1"/>
          <p:nvPr/>
        </p:nvSpPr>
        <p:spPr>
          <a:xfrm>
            <a:off x="1513009" y="2667697"/>
            <a:ext cx="10342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Member 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3DD4F3-5F58-CC90-D7FF-568044988074}"/>
              </a:ext>
            </a:extLst>
          </p:cNvPr>
          <p:cNvSpPr txBox="1"/>
          <p:nvPr/>
        </p:nvSpPr>
        <p:spPr>
          <a:xfrm>
            <a:off x="1513009" y="2961601"/>
            <a:ext cx="10342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Member 3</a:t>
            </a:r>
          </a:p>
        </p:txBody>
      </p:sp>
      <p:sp>
        <p:nvSpPr>
          <p:cNvPr id="18" name="Left Bracket 17">
            <a:extLst>
              <a:ext uri="{FF2B5EF4-FFF2-40B4-BE49-F238E27FC236}">
                <a16:creationId xmlns:a16="http://schemas.microsoft.com/office/drawing/2014/main" id="{C98C66BC-2539-8C40-D630-A2D11599B669}"/>
              </a:ext>
            </a:extLst>
          </p:cNvPr>
          <p:cNvSpPr/>
          <p:nvPr/>
        </p:nvSpPr>
        <p:spPr>
          <a:xfrm>
            <a:off x="2553463" y="4325510"/>
            <a:ext cx="45719" cy="198490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Left Bracket 18">
            <a:extLst>
              <a:ext uri="{FF2B5EF4-FFF2-40B4-BE49-F238E27FC236}">
                <a16:creationId xmlns:a16="http://schemas.microsoft.com/office/drawing/2014/main" id="{2C1F42B2-1F08-B38A-5095-24774F21E0BD}"/>
              </a:ext>
            </a:extLst>
          </p:cNvPr>
          <p:cNvSpPr/>
          <p:nvPr/>
        </p:nvSpPr>
        <p:spPr>
          <a:xfrm>
            <a:off x="2553463" y="4655704"/>
            <a:ext cx="45719" cy="457200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Left Bracket 19">
            <a:extLst>
              <a:ext uri="{FF2B5EF4-FFF2-40B4-BE49-F238E27FC236}">
                <a16:creationId xmlns:a16="http://schemas.microsoft.com/office/drawing/2014/main" id="{E4E3A8A1-8BE2-5D90-42C1-448607561F05}"/>
              </a:ext>
            </a:extLst>
          </p:cNvPr>
          <p:cNvSpPr/>
          <p:nvPr/>
        </p:nvSpPr>
        <p:spPr>
          <a:xfrm>
            <a:off x="2547266" y="5227702"/>
            <a:ext cx="45719" cy="457200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67120E-8A63-E603-0FB3-133CA555DBEA}"/>
              </a:ext>
            </a:extLst>
          </p:cNvPr>
          <p:cNvSpPr txBox="1"/>
          <p:nvPr/>
        </p:nvSpPr>
        <p:spPr>
          <a:xfrm>
            <a:off x="2030136" y="1585843"/>
            <a:ext cx="34179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PSHBS_Recon_Month</a:t>
            </a:r>
            <a:r>
              <a:rPr lang="en-US" sz="1600" dirty="0"/>
              <a:t> added to RCNO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9DF658-380C-6D5F-7E97-999A1A74E57B}"/>
              </a:ext>
            </a:extLst>
          </p:cNvPr>
          <p:cNvSpPr txBox="1"/>
          <p:nvPr/>
        </p:nvSpPr>
        <p:spPr>
          <a:xfrm>
            <a:off x="2030136" y="3577182"/>
            <a:ext cx="33377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MENR_Recon_Month</a:t>
            </a:r>
            <a:r>
              <a:rPr lang="en-US" sz="1600" dirty="0"/>
              <a:t> added to RCNO</a:t>
            </a:r>
          </a:p>
        </p:txBody>
      </p:sp>
    </p:spTree>
    <p:extLst>
      <p:ext uri="{BB962C8B-B14F-4D97-AF65-F5344CB8AC3E}">
        <p14:creationId xmlns:p14="http://schemas.microsoft.com/office/powerpoint/2010/main" val="3700395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CF525-5874-FBDB-7F47-8289906E6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200" b="1" dirty="0"/>
              <a:t>Steps to produce ‘Full’ MENR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1C95A-70C2-E900-0851-E6678EA7A1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A217ABC-3BCB-4F47-AC3C-9D517795156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D9A554-8BB8-B2A1-DEEB-00A149330887}"/>
              </a:ext>
            </a:extLst>
          </p:cNvPr>
          <p:cNvSpPr txBox="1"/>
          <p:nvPr/>
        </p:nvSpPr>
        <p:spPr>
          <a:xfrm>
            <a:off x="5884628" y="1693628"/>
            <a:ext cx="5621572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>
                <a:solidFill>
                  <a:srgbClr val="008000"/>
                </a:solidFill>
                <a:effectLst/>
                <a:latin typeface="Menlo"/>
              </a:rPr>
              <a:t>-- Step 1: Get latest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Menlo"/>
              </a:rPr>
              <a:t>recon_month</a:t>
            </a:r>
            <a:r>
              <a:rPr lang="en-US" sz="1400" b="0" dirty="0">
                <a:solidFill>
                  <a:srgbClr val="008000"/>
                </a:solidFill>
                <a:effectLst/>
                <a:latin typeface="Menlo"/>
              </a:rPr>
              <a:t> and its first day as date</a:t>
            </a:r>
            <a:endParaRPr lang="en-US" sz="1400" b="0" dirty="0">
              <a:solidFill>
                <a:srgbClr val="3B3B3B"/>
              </a:solidFill>
              <a:effectLst/>
              <a:latin typeface="Menlo"/>
            </a:endParaRPr>
          </a:p>
          <a:p>
            <a:r>
              <a:rPr lang="en-US" sz="1400" b="0" dirty="0">
                <a:solidFill>
                  <a:srgbClr val="0A6FBF"/>
                </a:solidFill>
                <a:effectLst/>
                <a:latin typeface="Menlo"/>
              </a:rPr>
              <a:t>WITH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 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Menlo"/>
              </a:rPr>
              <a:t>latest_month_cte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 </a:t>
            </a:r>
            <a:r>
              <a:rPr lang="en-US" sz="1400" b="0" dirty="0">
                <a:solidFill>
                  <a:srgbClr val="0A6FBF"/>
                </a:solidFill>
                <a:effectLst/>
                <a:latin typeface="Menlo"/>
              </a:rPr>
              <a:t>AS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 (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  </a:t>
            </a:r>
            <a:r>
              <a:rPr lang="en-US" sz="1400" b="0" dirty="0">
                <a:solidFill>
                  <a:srgbClr val="0A6FBF"/>
                </a:solidFill>
                <a:effectLst/>
                <a:latin typeface="Menlo"/>
              </a:rPr>
              <a:t>SELECT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Menlo"/>
              </a:rPr>
              <a:t>MAX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(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Menlo"/>
              </a:rPr>
              <a:t>recon_month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) </a:t>
            </a:r>
            <a:r>
              <a:rPr lang="en-US" sz="1400" b="0" dirty="0">
                <a:solidFill>
                  <a:srgbClr val="0A6FBF"/>
                </a:solidFill>
                <a:effectLst/>
                <a:latin typeface="Menlo"/>
              </a:rPr>
              <a:t>AS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 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Menlo"/>
              </a:rPr>
              <a:t>latest_recon_month</a:t>
            </a:r>
            <a:endParaRPr lang="en-US" sz="1400" b="0" dirty="0">
              <a:solidFill>
                <a:srgbClr val="3B3B3B"/>
              </a:solidFill>
              <a:effectLst/>
              <a:latin typeface="Menlo"/>
            </a:endParaRP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  </a:t>
            </a:r>
            <a:r>
              <a:rPr lang="en-US" sz="1400" b="0" dirty="0">
                <a:solidFill>
                  <a:srgbClr val="0A6FBF"/>
                </a:solidFill>
                <a:effectLst/>
                <a:latin typeface="Menlo"/>
              </a:rPr>
              <a:t>FROM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 </a:t>
            </a:r>
            <a:r>
              <a:rPr lang="en-US" sz="1400" b="0" dirty="0" err="1">
                <a:solidFill>
                  <a:srgbClr val="BC8E1A"/>
                </a:solidFill>
                <a:effectLst/>
                <a:latin typeface="Menlo"/>
              </a:rPr>
              <a:t>prod_pshbs_prd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Menlo"/>
              </a:rPr>
              <a:t>.</a:t>
            </a:r>
            <a:r>
              <a:rPr lang="en-US" sz="1400" b="0" dirty="0" err="1">
                <a:solidFill>
                  <a:srgbClr val="BC8E1A"/>
                </a:solidFill>
                <a:effectLst/>
                <a:latin typeface="Menlo"/>
              </a:rPr>
              <a:t>interfaces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Menlo"/>
              </a:rPr>
              <a:t>.int_recon_menr_in_mly_stg</a:t>
            </a:r>
            <a:endParaRPr lang="en-US" sz="1400" b="0" dirty="0">
              <a:solidFill>
                <a:srgbClr val="3B3B3B"/>
              </a:solidFill>
              <a:effectLst/>
              <a:latin typeface="Menlo"/>
            </a:endParaRP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),</a:t>
            </a:r>
            <a:br>
              <a:rPr lang="en-US" sz="1400" b="0" dirty="0">
                <a:solidFill>
                  <a:srgbClr val="3B3B3B"/>
                </a:solidFill>
                <a:effectLst/>
                <a:latin typeface="Menlo"/>
              </a:rPr>
            </a:br>
            <a:r>
              <a:rPr lang="en-US" sz="1400" b="0" dirty="0">
                <a:solidFill>
                  <a:srgbClr val="008000"/>
                </a:solidFill>
                <a:effectLst/>
                <a:latin typeface="Menlo"/>
              </a:rPr>
              <a:t>-- Step 2: Calculate the start of that latest month as a date</a:t>
            </a:r>
            <a:endParaRPr lang="en-US" sz="1400" b="0" dirty="0">
              <a:solidFill>
                <a:srgbClr val="3B3B3B"/>
              </a:solidFill>
              <a:effectLst/>
              <a:latin typeface="Menlo"/>
            </a:endParaRPr>
          </a:p>
          <a:p>
            <a:r>
              <a:rPr lang="en-US" sz="1400" b="0" dirty="0" err="1">
                <a:solidFill>
                  <a:srgbClr val="3B3B3B"/>
                </a:solidFill>
                <a:effectLst/>
                <a:latin typeface="Menlo"/>
              </a:rPr>
              <a:t>latest_month_date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 </a:t>
            </a:r>
            <a:r>
              <a:rPr lang="en-US" sz="1400" b="0" dirty="0">
                <a:solidFill>
                  <a:srgbClr val="0A6FBF"/>
                </a:solidFill>
                <a:effectLst/>
                <a:latin typeface="Menlo"/>
              </a:rPr>
              <a:t>AS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 (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  </a:t>
            </a:r>
            <a:r>
              <a:rPr lang="en-US" sz="1400" b="0" dirty="0">
                <a:solidFill>
                  <a:srgbClr val="0A6FBF"/>
                </a:solidFill>
                <a:effectLst/>
                <a:latin typeface="Menlo"/>
              </a:rPr>
              <a:t>SELECT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 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Menlo"/>
              </a:rPr>
              <a:t>latest_recon_month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,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         TO_DATE(</a:t>
            </a:r>
            <a:r>
              <a:rPr lang="en-US" sz="1400" b="0" dirty="0">
                <a:solidFill>
                  <a:srgbClr val="795E26"/>
                </a:solidFill>
                <a:effectLst/>
                <a:latin typeface="Menlo"/>
              </a:rPr>
              <a:t>CONCAT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(</a:t>
            </a:r>
            <a:r>
              <a:rPr lang="en-US" sz="1400" b="0" dirty="0">
                <a:solidFill>
                  <a:srgbClr val="795E26"/>
                </a:solidFill>
                <a:effectLst/>
                <a:latin typeface="Menlo"/>
              </a:rPr>
              <a:t>SUBSTRING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(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Menlo"/>
              </a:rPr>
              <a:t>latest_recon_month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Menlo"/>
              </a:rPr>
              <a:t>1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Menlo"/>
              </a:rPr>
              <a:t>4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), </a:t>
            </a:r>
            <a:r>
              <a:rPr lang="en-US" sz="1400" b="0" dirty="0">
                <a:solidFill>
                  <a:srgbClr val="C72E0F"/>
                </a:solidFill>
                <a:effectLst/>
                <a:latin typeface="Menlo"/>
              </a:rPr>
              <a:t>'-'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1400" b="0" dirty="0">
                <a:solidFill>
                  <a:srgbClr val="795E26"/>
                </a:solidFill>
                <a:effectLst/>
                <a:latin typeface="Menlo"/>
              </a:rPr>
              <a:t>SUBSTRING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(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Menlo"/>
              </a:rPr>
              <a:t>latest_recon_month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Menlo"/>
              </a:rPr>
              <a:t>5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Menlo"/>
              </a:rPr>
              <a:t>2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), </a:t>
            </a:r>
            <a:r>
              <a:rPr lang="en-US" sz="1400" b="0" dirty="0">
                <a:solidFill>
                  <a:srgbClr val="C72E0F"/>
                </a:solidFill>
                <a:effectLst/>
                <a:latin typeface="Menlo"/>
              </a:rPr>
              <a:t>'-01'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)) </a:t>
            </a:r>
            <a:r>
              <a:rPr lang="en-US" sz="1400" b="0" dirty="0">
                <a:solidFill>
                  <a:srgbClr val="0A6FBF"/>
                </a:solidFill>
                <a:effectLst/>
                <a:latin typeface="Menlo"/>
              </a:rPr>
              <a:t>AS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 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Menlo"/>
              </a:rPr>
              <a:t>latest_month_start</a:t>
            </a:r>
            <a:endParaRPr lang="en-US" sz="1400" b="0" dirty="0">
              <a:solidFill>
                <a:srgbClr val="3B3B3B"/>
              </a:solidFill>
              <a:effectLst/>
              <a:latin typeface="Menlo"/>
            </a:endParaRP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  </a:t>
            </a:r>
            <a:r>
              <a:rPr lang="en-US" sz="1400" b="0" dirty="0">
                <a:solidFill>
                  <a:srgbClr val="0A6FBF"/>
                </a:solidFill>
                <a:effectLst/>
                <a:latin typeface="Menlo"/>
              </a:rPr>
              <a:t>FROM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 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Menlo"/>
              </a:rPr>
              <a:t>latest_month_cte</a:t>
            </a:r>
            <a:endParaRPr lang="en-US" sz="1400" b="0" dirty="0">
              <a:solidFill>
                <a:srgbClr val="3B3B3B"/>
              </a:solidFill>
              <a:effectLst/>
              <a:latin typeface="Menlo"/>
            </a:endParaRP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),</a:t>
            </a:r>
            <a:br>
              <a:rPr lang="en-US" sz="1400" b="0" dirty="0">
                <a:solidFill>
                  <a:srgbClr val="3B3B3B"/>
                </a:solidFill>
                <a:effectLst/>
                <a:latin typeface="Menlo"/>
              </a:rPr>
            </a:br>
            <a:r>
              <a:rPr lang="en-US" sz="1400" b="0" dirty="0">
                <a:solidFill>
                  <a:srgbClr val="008000"/>
                </a:solidFill>
                <a:effectLst/>
                <a:latin typeface="Menlo"/>
              </a:rPr>
              <a:t>-- Step 3: Get all latest-month records</a:t>
            </a:r>
            <a:endParaRPr lang="en-US" sz="1400" b="0" dirty="0">
              <a:solidFill>
                <a:srgbClr val="3B3B3B"/>
              </a:solidFill>
              <a:effectLst/>
              <a:latin typeface="Menlo"/>
            </a:endParaRPr>
          </a:p>
          <a:p>
            <a:r>
              <a:rPr lang="en-US" sz="1400" b="0" dirty="0" err="1">
                <a:solidFill>
                  <a:srgbClr val="3B3B3B"/>
                </a:solidFill>
                <a:effectLst/>
                <a:latin typeface="Menlo"/>
              </a:rPr>
              <a:t>latest_records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 </a:t>
            </a:r>
            <a:r>
              <a:rPr lang="en-US" sz="1400" b="0" dirty="0">
                <a:solidFill>
                  <a:srgbClr val="0A6FBF"/>
                </a:solidFill>
                <a:effectLst/>
                <a:latin typeface="Menlo"/>
              </a:rPr>
              <a:t>AS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 (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  </a:t>
            </a:r>
            <a:r>
              <a:rPr lang="en-US" sz="1400" b="0" dirty="0">
                <a:solidFill>
                  <a:srgbClr val="0A6FBF"/>
                </a:solidFill>
                <a:effectLst/>
                <a:latin typeface="Menlo"/>
              </a:rPr>
              <a:t>SELECT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 t.</a:t>
            </a:r>
            <a:r>
              <a:rPr lang="en-US" sz="1400" b="0" dirty="0">
                <a:solidFill>
                  <a:srgbClr val="687687"/>
                </a:solidFill>
                <a:effectLst/>
                <a:latin typeface="Menlo"/>
              </a:rPr>
              <a:t>*</a:t>
            </a:r>
            <a:endParaRPr lang="en-US" sz="1400" b="0" dirty="0">
              <a:solidFill>
                <a:srgbClr val="3B3B3B"/>
              </a:solidFill>
              <a:effectLst/>
              <a:latin typeface="Menlo"/>
            </a:endParaRP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  </a:t>
            </a:r>
            <a:r>
              <a:rPr lang="en-US" sz="1400" b="0" dirty="0">
                <a:solidFill>
                  <a:srgbClr val="0A6FBF"/>
                </a:solidFill>
                <a:effectLst/>
                <a:latin typeface="Menlo"/>
              </a:rPr>
              <a:t>FROM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 </a:t>
            </a:r>
            <a:r>
              <a:rPr lang="en-US" sz="1400" b="0" dirty="0" err="1">
                <a:solidFill>
                  <a:srgbClr val="BC8E1A"/>
                </a:solidFill>
                <a:effectLst/>
                <a:latin typeface="Menlo"/>
              </a:rPr>
              <a:t>prod_pshbs_prd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Menlo"/>
              </a:rPr>
              <a:t>.</a:t>
            </a:r>
            <a:r>
              <a:rPr lang="en-US" sz="1400" b="0" dirty="0" err="1">
                <a:solidFill>
                  <a:srgbClr val="BC8E1A"/>
                </a:solidFill>
                <a:effectLst/>
                <a:latin typeface="Menlo"/>
              </a:rPr>
              <a:t>interfaces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Menlo"/>
              </a:rPr>
              <a:t>.int_recon_menr_in_mly_stg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 t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  </a:t>
            </a:r>
            <a:r>
              <a:rPr lang="en-US" sz="1400" b="0" dirty="0">
                <a:solidFill>
                  <a:srgbClr val="0A6FBF"/>
                </a:solidFill>
                <a:effectLst/>
                <a:latin typeface="Menlo"/>
              </a:rPr>
              <a:t>JOIN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 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Menlo"/>
              </a:rPr>
              <a:t>latest_month_cte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 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Menlo"/>
              </a:rPr>
              <a:t>lm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 </a:t>
            </a:r>
            <a:r>
              <a:rPr lang="en-US" sz="1400" b="0" dirty="0">
                <a:solidFill>
                  <a:srgbClr val="0A6FBF"/>
                </a:solidFill>
                <a:effectLst/>
                <a:latin typeface="Menlo"/>
              </a:rPr>
              <a:t>ON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 </a:t>
            </a:r>
            <a:r>
              <a:rPr lang="en-US" sz="1400" b="0" dirty="0" err="1">
                <a:solidFill>
                  <a:srgbClr val="BC8E1A"/>
                </a:solidFill>
                <a:effectLst/>
                <a:latin typeface="Menlo"/>
              </a:rPr>
              <a:t>t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Menlo"/>
              </a:rPr>
              <a:t>.</a:t>
            </a:r>
            <a:r>
              <a:rPr lang="en-US" sz="1400" b="0" dirty="0" err="1">
                <a:solidFill>
                  <a:srgbClr val="BC8E1A"/>
                </a:solidFill>
                <a:effectLst/>
                <a:latin typeface="Menlo"/>
              </a:rPr>
              <a:t>recon_month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 </a:t>
            </a:r>
            <a:r>
              <a:rPr lang="en-US" sz="1400" b="0" dirty="0">
                <a:solidFill>
                  <a:srgbClr val="687687"/>
                </a:solidFill>
                <a:effectLst/>
                <a:latin typeface="Menlo"/>
              </a:rPr>
              <a:t>=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 </a:t>
            </a:r>
            <a:r>
              <a:rPr lang="en-US" sz="1400" b="0" dirty="0" err="1">
                <a:solidFill>
                  <a:srgbClr val="BC8E1A"/>
                </a:solidFill>
                <a:effectLst/>
                <a:latin typeface="Menlo"/>
              </a:rPr>
              <a:t>lm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Menlo"/>
              </a:rPr>
              <a:t>.</a:t>
            </a:r>
            <a:r>
              <a:rPr lang="en-US" sz="1400" b="0" dirty="0" err="1">
                <a:solidFill>
                  <a:srgbClr val="BC8E1A"/>
                </a:solidFill>
                <a:effectLst/>
                <a:latin typeface="Menlo"/>
              </a:rPr>
              <a:t>latest_recon_month</a:t>
            </a:r>
            <a:endParaRPr lang="en-US" sz="1400" b="0" dirty="0">
              <a:solidFill>
                <a:srgbClr val="3B3B3B"/>
              </a:solidFill>
              <a:effectLst/>
              <a:latin typeface="Menlo"/>
            </a:endParaRP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),</a:t>
            </a:r>
          </a:p>
          <a:p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D9A554-8BB8-B2A1-DEEB-00A149330887}"/>
              </a:ext>
            </a:extLst>
          </p:cNvPr>
          <p:cNvSpPr txBox="1"/>
          <p:nvPr/>
        </p:nvSpPr>
        <p:spPr>
          <a:xfrm>
            <a:off x="777570" y="1693628"/>
            <a:ext cx="4867855" cy="3746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b="0" dirty="0">
                <a:solidFill>
                  <a:srgbClr val="008000"/>
                </a:solidFill>
                <a:effectLst/>
                <a:latin typeface="Menlo"/>
              </a:rPr>
              <a:t>Get latest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Menlo"/>
              </a:rPr>
              <a:t>recon_month</a:t>
            </a:r>
            <a:r>
              <a:rPr lang="en-US" sz="1600" b="0" dirty="0">
                <a:solidFill>
                  <a:srgbClr val="008000"/>
                </a:solidFill>
                <a:effectLst/>
                <a:latin typeface="Menlo"/>
              </a:rPr>
              <a:t> and its first day as date</a:t>
            </a:r>
            <a:endParaRPr lang="en-US" sz="1600" b="0" dirty="0">
              <a:solidFill>
                <a:srgbClr val="3B3B3B"/>
              </a:solidFill>
              <a:effectLst/>
              <a:latin typeface="Menlo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b="0" dirty="0">
                <a:solidFill>
                  <a:srgbClr val="008000"/>
                </a:solidFill>
                <a:effectLst/>
                <a:latin typeface="Menlo"/>
              </a:rPr>
              <a:t>Calculate the start of that latest month as a date</a:t>
            </a:r>
            <a:endParaRPr lang="en-US" sz="1600" dirty="0">
              <a:solidFill>
                <a:srgbClr val="3B3B3B"/>
              </a:solidFill>
              <a:latin typeface="Menlo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b="0" dirty="0">
                <a:solidFill>
                  <a:srgbClr val="008000"/>
                </a:solidFill>
                <a:effectLst/>
                <a:latin typeface="Menlo"/>
              </a:rPr>
              <a:t>Get all latest-month records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b="0" dirty="0">
                <a:solidFill>
                  <a:schemeClr val="bg1">
                    <a:lumMod val="75000"/>
                  </a:schemeClr>
                </a:solidFill>
                <a:effectLst/>
                <a:latin typeface="Menlo"/>
              </a:rPr>
              <a:t>Get prior-month records where </a:t>
            </a:r>
            <a:r>
              <a:rPr lang="en-US" sz="1600" b="0" dirty="0" err="1">
                <a:solidFill>
                  <a:schemeClr val="bg1">
                    <a:lumMod val="75000"/>
                  </a:schemeClr>
                </a:solidFill>
                <a:effectLst/>
                <a:latin typeface="Menlo"/>
              </a:rPr>
              <a:t>cov_end_dt</a:t>
            </a:r>
            <a:r>
              <a:rPr lang="en-US" sz="1600" b="0" dirty="0">
                <a:solidFill>
                  <a:schemeClr val="bg1">
                    <a:lumMod val="75000"/>
                  </a:schemeClr>
                </a:solidFill>
                <a:effectLst/>
                <a:latin typeface="Menlo"/>
              </a:rPr>
              <a:t> &lt; start of latest month, then deduplicate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b="0" dirty="0">
                <a:solidFill>
                  <a:schemeClr val="bg1">
                    <a:lumMod val="75000"/>
                  </a:schemeClr>
                </a:solidFill>
                <a:effectLst/>
                <a:latin typeface="Menlo"/>
              </a:rPr>
              <a:t>Final result, combine all latest-month MENR records with all deduplicated prior-month MENR records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1600" dirty="0">
              <a:solidFill>
                <a:srgbClr val="008000"/>
              </a:solidFill>
              <a:latin typeface="Menlo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1600" b="0" dirty="0">
              <a:solidFill>
                <a:srgbClr val="3B3B3B"/>
              </a:solidFill>
              <a:effectLst/>
              <a:latin typeface="Menlo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657244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1C95A-70C2-E900-0851-E6678EA7A1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A217ABC-3BCB-4F47-AC3C-9D517795156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D9A554-8BB8-B2A1-DEEB-00A149330887}"/>
              </a:ext>
            </a:extLst>
          </p:cNvPr>
          <p:cNvSpPr txBox="1"/>
          <p:nvPr/>
        </p:nvSpPr>
        <p:spPr>
          <a:xfrm>
            <a:off x="5866406" y="777240"/>
            <a:ext cx="5883964" cy="6078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>
                <a:solidFill>
                  <a:srgbClr val="008000"/>
                </a:solidFill>
                <a:effectLst/>
                <a:latin typeface="Menlo"/>
              </a:rPr>
              <a:t>-- Step 4: Get prior-month records where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Menlo"/>
              </a:rPr>
              <a:t>cov_end_dt</a:t>
            </a:r>
            <a:r>
              <a:rPr lang="en-US" sz="1400" b="0" dirty="0">
                <a:solidFill>
                  <a:srgbClr val="008000"/>
                </a:solidFill>
                <a:effectLst/>
                <a:latin typeface="Menlo"/>
              </a:rPr>
              <a:t> &lt; start of latest month, then deduplicate</a:t>
            </a:r>
            <a:endParaRPr lang="en-US" sz="1400" b="0" dirty="0">
              <a:solidFill>
                <a:srgbClr val="3B3B3B"/>
              </a:solidFill>
              <a:effectLst/>
              <a:latin typeface="Menlo"/>
            </a:endParaRPr>
          </a:p>
          <a:p>
            <a:r>
              <a:rPr lang="en-US" sz="1400" b="0" dirty="0" err="1">
                <a:solidFill>
                  <a:srgbClr val="3B3B3B"/>
                </a:solidFill>
                <a:effectLst/>
                <a:latin typeface="Menlo"/>
              </a:rPr>
              <a:t>prior_records_deduped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 </a:t>
            </a:r>
            <a:r>
              <a:rPr lang="en-US" sz="1400" b="0" dirty="0">
                <a:solidFill>
                  <a:srgbClr val="0A6FBF"/>
                </a:solidFill>
                <a:effectLst/>
                <a:latin typeface="Menlo"/>
              </a:rPr>
              <a:t>AS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 (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  </a:t>
            </a:r>
            <a:r>
              <a:rPr lang="en-US" sz="1400" b="0" dirty="0">
                <a:solidFill>
                  <a:srgbClr val="0A6FBF"/>
                </a:solidFill>
                <a:effectLst/>
                <a:latin typeface="Menlo"/>
              </a:rPr>
              <a:t>SELECT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 </a:t>
            </a:r>
            <a:r>
              <a:rPr lang="en-US" sz="1400" b="0" dirty="0">
                <a:solidFill>
                  <a:srgbClr val="008000"/>
                </a:solidFill>
                <a:effectLst/>
                <a:latin typeface="Menlo"/>
              </a:rPr>
              <a:t>-- list all columns explicitly to avoid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Menlo"/>
              </a:rPr>
              <a:t>row_num</a:t>
            </a:r>
            <a:r>
              <a:rPr lang="en-US" sz="1400" b="0" dirty="0">
                <a:solidFill>
                  <a:srgbClr val="008000"/>
                </a:solidFill>
                <a:effectLst/>
                <a:latin typeface="Menlo"/>
              </a:rPr>
              <a:t> in final result</a:t>
            </a:r>
            <a:endParaRPr lang="en-US" sz="1400" b="0" dirty="0">
              <a:solidFill>
                <a:srgbClr val="3B3B3B"/>
              </a:solidFill>
              <a:effectLst/>
              <a:latin typeface="Menlo"/>
            </a:endParaRPr>
          </a:p>
          <a:p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seq_num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subscr_id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mbr_rlshp_cd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pat_cd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mbr_id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last_na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first_na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middle_na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sfx_nm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birth_dt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sex_cd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mbr_ssn_num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subscr_ssn_num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event_cd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trans_cd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rec_prcss_dt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plan_cd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cov_start_dt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elg_eff_cd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cov_end_dt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extn_cov_end_dt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term_rsn_cd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death_dt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bad</a:t>
            </a:r>
            <a:r>
              <a:rPr lang="en-US" sz="900" dirty="0" err="1">
                <a:solidFill>
                  <a:srgbClr val="3B3B3B"/>
                </a:solidFill>
                <a:latin typeface="Menlo"/>
              </a:rPr>
              <a:t>_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addr_ind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addr_prcss_dt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addr_ln1_nm, addr_ln2_nm,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city_nm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state_cd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zip_cd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cntry_cd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subscr_empl_stat_cd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annuitant_num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subscr_rtr_dt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subscr_rempl_dt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mcare_flg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mcare_last_upd_dt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mcare_cvrg_cd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mcare_id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pyrl_ofc_num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dec_ann_ssn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pseudo_ssn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alt_pyrl_off_id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file_process_dt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carrier_name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mul_match_sw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snap_rec_seq_num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appln_id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logical_id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batch_run_id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person_mbrsh_id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processing_status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error_cd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comments,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created_by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created_dt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updated_by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updated_dt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initial_record_id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job_execution_id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source_file_name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recon_month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phone_num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email, </a:t>
            </a:r>
            <a:r>
              <a:rPr lang="en-US" sz="900" b="0" dirty="0" err="1">
                <a:solidFill>
                  <a:srgbClr val="3B3B3B"/>
                </a:solidFill>
                <a:effectLst/>
                <a:latin typeface="Menlo"/>
              </a:rPr>
              <a:t>extnd_cov_end_dt</a:t>
            </a:r>
            <a:r>
              <a:rPr lang="en-US" sz="900" b="0" dirty="0">
                <a:solidFill>
                  <a:srgbClr val="3B3B3B"/>
                </a:solidFill>
                <a:effectLst/>
                <a:latin typeface="Menlo"/>
              </a:rPr>
              <a:t>, addr_ln3_nm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  </a:t>
            </a:r>
            <a:r>
              <a:rPr lang="en-US" sz="1400" b="0" dirty="0">
                <a:solidFill>
                  <a:srgbClr val="0A6FBF"/>
                </a:solidFill>
                <a:effectLst/>
                <a:latin typeface="Menlo"/>
              </a:rPr>
              <a:t>FROM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 (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    </a:t>
            </a:r>
            <a:r>
              <a:rPr lang="en-US" sz="1400" b="0" dirty="0">
                <a:solidFill>
                  <a:srgbClr val="0A6FBF"/>
                </a:solidFill>
                <a:effectLst/>
                <a:latin typeface="Menlo"/>
              </a:rPr>
              <a:t>SELECT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 t.</a:t>
            </a:r>
            <a:r>
              <a:rPr lang="en-US" sz="1400" b="0" dirty="0">
                <a:solidFill>
                  <a:srgbClr val="687687"/>
                </a:solidFill>
                <a:effectLst/>
                <a:latin typeface="Menlo"/>
              </a:rPr>
              <a:t>*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           </a:t>
            </a:r>
            <a:r>
              <a:rPr lang="en-US" sz="1400" b="0" dirty="0">
                <a:solidFill>
                  <a:srgbClr val="795E26"/>
                </a:solidFill>
                <a:effectLst/>
                <a:latin typeface="Menlo"/>
              </a:rPr>
              <a:t>ROW_NUMBER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() </a:t>
            </a:r>
            <a:r>
              <a:rPr lang="en-US" sz="1400" b="0" dirty="0">
                <a:solidFill>
                  <a:srgbClr val="0A6FBF"/>
                </a:solidFill>
                <a:effectLst/>
                <a:latin typeface="Menlo"/>
              </a:rPr>
              <a:t>OVER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 (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             </a:t>
            </a:r>
            <a:r>
              <a:rPr lang="en-US" sz="1400" b="0" dirty="0">
                <a:solidFill>
                  <a:srgbClr val="0A6FBF"/>
                </a:solidFill>
                <a:effectLst/>
                <a:latin typeface="Menlo"/>
              </a:rPr>
              <a:t>PARTITION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 </a:t>
            </a:r>
            <a:r>
              <a:rPr lang="en-US" sz="1400" b="0" dirty="0">
                <a:solidFill>
                  <a:srgbClr val="0A6FBF"/>
                </a:solidFill>
                <a:effectLst/>
                <a:latin typeface="Menlo"/>
              </a:rPr>
              <a:t>BY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 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Menlo"/>
              </a:rPr>
              <a:t>carrier_name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,  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Menlo"/>
              </a:rPr>
              <a:t>subscr_id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Menlo"/>
              </a:rPr>
              <a:t>mbr_id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, 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Menlo"/>
              </a:rPr>
              <a:t>plan_cd</a:t>
            </a:r>
            <a:endParaRPr lang="en-US" sz="1400" b="0" dirty="0">
              <a:solidFill>
                <a:srgbClr val="3B3B3B"/>
              </a:solidFill>
              <a:effectLst/>
              <a:latin typeface="Menlo"/>
            </a:endParaRP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             </a:t>
            </a:r>
            <a:r>
              <a:rPr lang="en-US" sz="1400" b="0" dirty="0">
                <a:solidFill>
                  <a:srgbClr val="0A6FBF"/>
                </a:solidFill>
                <a:effectLst/>
                <a:latin typeface="Menlo"/>
              </a:rPr>
              <a:t>ORDER BY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 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Menlo"/>
              </a:rPr>
              <a:t>recon_month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 </a:t>
            </a:r>
            <a:r>
              <a:rPr lang="en-US" sz="1400" b="0" dirty="0">
                <a:solidFill>
                  <a:srgbClr val="0A6FBF"/>
                </a:solidFill>
                <a:effectLst/>
                <a:latin typeface="Menlo"/>
              </a:rPr>
              <a:t>DESC</a:t>
            </a:r>
            <a:endParaRPr lang="en-US" sz="1400" b="0" dirty="0">
              <a:solidFill>
                <a:srgbClr val="3B3B3B"/>
              </a:solidFill>
              <a:effectLst/>
              <a:latin typeface="Menlo"/>
            </a:endParaRP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           ) </a:t>
            </a:r>
            <a:r>
              <a:rPr lang="en-US" sz="1400" b="0" dirty="0">
                <a:solidFill>
                  <a:srgbClr val="0A6FBF"/>
                </a:solidFill>
                <a:effectLst/>
                <a:latin typeface="Menlo"/>
              </a:rPr>
              <a:t>AS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 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Menlo"/>
              </a:rPr>
              <a:t>row_num</a:t>
            </a:r>
            <a:endParaRPr lang="en-US" sz="1400" b="0" dirty="0">
              <a:solidFill>
                <a:srgbClr val="3B3B3B"/>
              </a:solidFill>
              <a:effectLst/>
              <a:latin typeface="Menlo"/>
            </a:endParaRP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    </a:t>
            </a:r>
            <a:r>
              <a:rPr lang="en-US" sz="1400" b="0" dirty="0">
                <a:solidFill>
                  <a:srgbClr val="0A6FBF"/>
                </a:solidFill>
                <a:effectLst/>
                <a:latin typeface="Menlo"/>
              </a:rPr>
              <a:t>FROM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 </a:t>
            </a:r>
            <a:r>
              <a:rPr lang="en-US" sz="1400" b="0" dirty="0" err="1">
                <a:solidFill>
                  <a:srgbClr val="BC8E1A"/>
                </a:solidFill>
                <a:effectLst/>
                <a:latin typeface="Menlo"/>
              </a:rPr>
              <a:t>prod_pshbs_prd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Menlo"/>
              </a:rPr>
              <a:t>.</a:t>
            </a:r>
            <a:r>
              <a:rPr lang="en-US" sz="1400" b="0" dirty="0" err="1">
                <a:solidFill>
                  <a:srgbClr val="BC8E1A"/>
                </a:solidFill>
                <a:effectLst/>
                <a:latin typeface="Menlo"/>
              </a:rPr>
              <a:t>interfaces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Menlo"/>
              </a:rPr>
              <a:t>.int_recon_menr_in_mly_stg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 t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    </a:t>
            </a:r>
            <a:r>
              <a:rPr lang="en-US" sz="1400" b="0" dirty="0">
                <a:solidFill>
                  <a:srgbClr val="0A6FBF"/>
                </a:solidFill>
                <a:effectLst/>
                <a:latin typeface="Menlo"/>
              </a:rPr>
              <a:t>JOIN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 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Menlo"/>
              </a:rPr>
              <a:t>latest_month_date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 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Menlo"/>
              </a:rPr>
              <a:t>lm</a:t>
            </a:r>
            <a:endParaRPr lang="en-US" sz="1400" b="0" dirty="0">
              <a:solidFill>
                <a:srgbClr val="3B3B3B"/>
              </a:solidFill>
              <a:effectLst/>
              <a:latin typeface="Menlo"/>
            </a:endParaRP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      </a:t>
            </a:r>
            <a:r>
              <a:rPr lang="en-US" sz="1400" b="0" dirty="0">
                <a:solidFill>
                  <a:srgbClr val="0A6FBF"/>
                </a:solidFill>
                <a:effectLst/>
                <a:latin typeface="Menlo"/>
              </a:rPr>
              <a:t>ON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 </a:t>
            </a:r>
            <a:r>
              <a:rPr lang="en-US" sz="1400" b="0" dirty="0" err="1">
                <a:solidFill>
                  <a:srgbClr val="BC8E1A"/>
                </a:solidFill>
                <a:effectLst/>
                <a:latin typeface="Menlo"/>
              </a:rPr>
              <a:t>t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Menlo"/>
              </a:rPr>
              <a:t>.</a:t>
            </a:r>
            <a:r>
              <a:rPr lang="en-US" sz="1400" b="0" dirty="0" err="1">
                <a:solidFill>
                  <a:srgbClr val="BC8E1A"/>
                </a:solidFill>
                <a:effectLst/>
                <a:latin typeface="Menlo"/>
              </a:rPr>
              <a:t>recon_month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 </a:t>
            </a:r>
            <a:r>
              <a:rPr lang="en-US" sz="1400" b="0" dirty="0">
                <a:solidFill>
                  <a:srgbClr val="687687"/>
                </a:solidFill>
                <a:effectLst/>
                <a:latin typeface="Menlo"/>
              </a:rPr>
              <a:t>&lt;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 </a:t>
            </a:r>
            <a:r>
              <a:rPr lang="en-US" sz="1400" b="0" dirty="0" err="1">
                <a:solidFill>
                  <a:srgbClr val="BC8E1A"/>
                </a:solidFill>
                <a:effectLst/>
                <a:latin typeface="Menlo"/>
              </a:rPr>
              <a:t>lm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Menlo"/>
              </a:rPr>
              <a:t>.</a:t>
            </a:r>
            <a:r>
              <a:rPr lang="en-US" sz="1400" b="0" dirty="0" err="1">
                <a:solidFill>
                  <a:srgbClr val="BC8E1A"/>
                </a:solidFill>
                <a:effectLst/>
                <a:latin typeface="Menlo"/>
              </a:rPr>
              <a:t>latest_recon_month</a:t>
            </a:r>
            <a:endParaRPr lang="en-US" sz="1400" b="0" dirty="0">
              <a:solidFill>
                <a:srgbClr val="3B3B3B"/>
              </a:solidFill>
              <a:effectLst/>
              <a:latin typeface="Menlo"/>
            </a:endParaRP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     </a:t>
            </a:r>
            <a:r>
              <a:rPr lang="en-US" sz="1400" b="0" dirty="0">
                <a:solidFill>
                  <a:srgbClr val="0A6FBF"/>
                </a:solidFill>
                <a:effectLst/>
                <a:latin typeface="Menlo"/>
              </a:rPr>
              <a:t>AND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 </a:t>
            </a:r>
            <a:r>
              <a:rPr lang="en-US" sz="1400" b="0" dirty="0" err="1">
                <a:solidFill>
                  <a:srgbClr val="BC8E1A"/>
                </a:solidFill>
                <a:effectLst/>
                <a:latin typeface="Menlo"/>
              </a:rPr>
              <a:t>t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Menlo"/>
              </a:rPr>
              <a:t>.</a:t>
            </a:r>
            <a:r>
              <a:rPr lang="en-US" sz="1400" b="0" dirty="0" err="1">
                <a:solidFill>
                  <a:srgbClr val="BC8E1A"/>
                </a:solidFill>
                <a:effectLst/>
                <a:latin typeface="Menlo"/>
              </a:rPr>
              <a:t>cov_end_dt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 </a:t>
            </a:r>
            <a:r>
              <a:rPr lang="en-US" sz="1400" b="0" dirty="0">
                <a:solidFill>
                  <a:srgbClr val="687687"/>
                </a:solidFill>
                <a:effectLst/>
                <a:latin typeface="Menlo"/>
              </a:rPr>
              <a:t>&lt;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 </a:t>
            </a:r>
            <a:r>
              <a:rPr lang="en-US" sz="1400" b="0" dirty="0" err="1">
                <a:solidFill>
                  <a:srgbClr val="BC8E1A"/>
                </a:solidFill>
                <a:effectLst/>
                <a:latin typeface="Menlo"/>
              </a:rPr>
              <a:t>lm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Menlo"/>
              </a:rPr>
              <a:t>.</a:t>
            </a:r>
            <a:r>
              <a:rPr lang="en-US" sz="1400" b="0" dirty="0" err="1">
                <a:solidFill>
                  <a:srgbClr val="BC8E1A"/>
                </a:solidFill>
                <a:effectLst/>
                <a:latin typeface="Menlo"/>
              </a:rPr>
              <a:t>latest_month_start</a:t>
            </a:r>
            <a:endParaRPr lang="en-US" sz="1400" b="0" dirty="0">
              <a:solidFill>
                <a:srgbClr val="3B3B3B"/>
              </a:solidFill>
              <a:effectLst/>
              <a:latin typeface="Menlo"/>
            </a:endParaRP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  ) ranked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  </a:t>
            </a:r>
            <a:r>
              <a:rPr lang="en-US" sz="1400" b="0" dirty="0">
                <a:solidFill>
                  <a:srgbClr val="0A6FBF"/>
                </a:solidFill>
                <a:effectLst/>
                <a:latin typeface="Menlo"/>
              </a:rPr>
              <a:t>WHERE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 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Menlo"/>
              </a:rPr>
              <a:t>row_num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 </a:t>
            </a:r>
            <a:r>
              <a:rPr lang="en-US" sz="1400" b="0" dirty="0">
                <a:solidFill>
                  <a:srgbClr val="687687"/>
                </a:solidFill>
                <a:effectLst/>
                <a:latin typeface="Menlo"/>
              </a:rPr>
              <a:t>=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 </a:t>
            </a:r>
            <a:r>
              <a:rPr lang="en-US" sz="1400" b="0" dirty="0">
                <a:solidFill>
                  <a:srgbClr val="098658"/>
                </a:solidFill>
                <a:effectLst/>
                <a:latin typeface="Menlo"/>
              </a:rPr>
              <a:t>1</a:t>
            </a:r>
            <a:endParaRPr lang="en-US" sz="1400" b="0" dirty="0">
              <a:solidFill>
                <a:srgbClr val="3B3B3B"/>
              </a:solidFill>
              <a:effectLst/>
              <a:latin typeface="Menlo"/>
            </a:endParaRP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)</a:t>
            </a:r>
            <a:br>
              <a:rPr lang="en-US" sz="1400" b="0" dirty="0">
                <a:solidFill>
                  <a:srgbClr val="3B3B3B"/>
                </a:solidFill>
                <a:effectLst/>
                <a:latin typeface="Menlo"/>
              </a:rPr>
            </a:br>
            <a:r>
              <a:rPr lang="en-US" sz="1400" b="0" dirty="0">
                <a:solidFill>
                  <a:srgbClr val="008000"/>
                </a:solidFill>
                <a:effectLst/>
                <a:latin typeface="Menlo"/>
              </a:rPr>
              <a:t>-- Final result</a:t>
            </a:r>
            <a:endParaRPr lang="en-US" sz="1400" b="0" dirty="0">
              <a:solidFill>
                <a:srgbClr val="3B3B3B"/>
              </a:solidFill>
              <a:effectLst/>
              <a:latin typeface="Menlo"/>
            </a:endParaRPr>
          </a:p>
          <a:p>
            <a:r>
              <a:rPr lang="en-US" sz="1400" b="0" dirty="0">
                <a:solidFill>
                  <a:srgbClr val="0A6FBF"/>
                </a:solidFill>
                <a:effectLst/>
                <a:latin typeface="Menlo"/>
              </a:rPr>
              <a:t>SELECT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 </a:t>
            </a:r>
            <a:r>
              <a:rPr lang="en-US" sz="1400" b="0" dirty="0">
                <a:solidFill>
                  <a:srgbClr val="687687"/>
                </a:solidFill>
                <a:effectLst/>
                <a:latin typeface="Menlo"/>
              </a:rPr>
              <a:t>*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 </a:t>
            </a:r>
            <a:r>
              <a:rPr lang="en-US" sz="1400" b="0" dirty="0">
                <a:solidFill>
                  <a:srgbClr val="0A6FBF"/>
                </a:solidFill>
                <a:effectLst/>
                <a:latin typeface="Menlo"/>
              </a:rPr>
              <a:t>FROM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 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Menlo"/>
              </a:rPr>
              <a:t>latest_records</a:t>
            </a:r>
            <a:endParaRPr lang="en-US" sz="1400" b="0" dirty="0">
              <a:solidFill>
                <a:srgbClr val="3B3B3B"/>
              </a:solidFill>
              <a:effectLst/>
              <a:latin typeface="Menlo"/>
            </a:endParaRPr>
          </a:p>
          <a:p>
            <a:r>
              <a:rPr lang="en-US" sz="1400" b="0" dirty="0">
                <a:solidFill>
                  <a:srgbClr val="0A6FBF"/>
                </a:solidFill>
                <a:effectLst/>
                <a:latin typeface="Menlo"/>
              </a:rPr>
              <a:t>UNION ALL</a:t>
            </a:r>
            <a:endParaRPr lang="en-US" sz="1400" b="0" dirty="0">
              <a:solidFill>
                <a:srgbClr val="3B3B3B"/>
              </a:solidFill>
              <a:effectLst/>
              <a:latin typeface="Menlo"/>
            </a:endParaRPr>
          </a:p>
          <a:p>
            <a:r>
              <a:rPr lang="en-US" sz="1400" b="0" dirty="0">
                <a:solidFill>
                  <a:srgbClr val="0A6FBF"/>
                </a:solidFill>
                <a:effectLst/>
                <a:latin typeface="Menlo"/>
              </a:rPr>
              <a:t>SELECT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 </a:t>
            </a:r>
            <a:r>
              <a:rPr lang="en-US" sz="1400" b="0" dirty="0">
                <a:solidFill>
                  <a:srgbClr val="687687"/>
                </a:solidFill>
                <a:effectLst/>
                <a:latin typeface="Menlo"/>
              </a:rPr>
              <a:t>*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 </a:t>
            </a:r>
            <a:r>
              <a:rPr lang="en-US" sz="1400" b="0" dirty="0">
                <a:solidFill>
                  <a:srgbClr val="0A6FBF"/>
                </a:solidFill>
                <a:effectLst/>
                <a:latin typeface="Menlo"/>
              </a:rPr>
              <a:t>FROM</a:t>
            </a:r>
            <a:r>
              <a:rPr lang="en-US" sz="1400" b="0" dirty="0">
                <a:solidFill>
                  <a:srgbClr val="3B3B3B"/>
                </a:solidFill>
                <a:effectLst/>
                <a:latin typeface="Menlo"/>
              </a:rPr>
              <a:t> 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Menlo"/>
              </a:rPr>
              <a:t>prior_records_deduped</a:t>
            </a:r>
            <a:endParaRPr lang="en-US" sz="1400" b="0" dirty="0">
              <a:solidFill>
                <a:srgbClr val="3B3B3B"/>
              </a:solidFill>
              <a:effectLst/>
              <a:latin typeface="Menlo"/>
            </a:endParaRPr>
          </a:p>
          <a:p>
            <a:endParaRPr lang="en-US" sz="1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79D8028-96F3-28CD-B5E5-92E40F44A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77240"/>
            <a:ext cx="10972800" cy="1051560"/>
          </a:xfrm>
        </p:spPr>
        <p:txBody>
          <a:bodyPr/>
          <a:lstStyle/>
          <a:p>
            <a:r>
              <a:rPr lang="en-US" sz="2200" b="1" dirty="0"/>
              <a:t>Steps to produce ‘Full’ MENR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DEEC52-5B31-85FB-F225-B369F68CF399}"/>
              </a:ext>
            </a:extLst>
          </p:cNvPr>
          <p:cNvSpPr txBox="1"/>
          <p:nvPr/>
        </p:nvSpPr>
        <p:spPr>
          <a:xfrm>
            <a:off x="777570" y="1693628"/>
            <a:ext cx="4867855" cy="3705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b="0" dirty="0">
                <a:solidFill>
                  <a:schemeClr val="bg1">
                    <a:lumMod val="75000"/>
                  </a:schemeClr>
                </a:solidFill>
                <a:effectLst/>
                <a:latin typeface="Menlo"/>
              </a:rPr>
              <a:t>Get latest </a:t>
            </a:r>
            <a:r>
              <a:rPr lang="en-US" sz="1600" b="0" dirty="0" err="1">
                <a:solidFill>
                  <a:schemeClr val="bg1">
                    <a:lumMod val="75000"/>
                  </a:schemeClr>
                </a:solidFill>
                <a:effectLst/>
                <a:latin typeface="Menlo"/>
              </a:rPr>
              <a:t>recon_month</a:t>
            </a:r>
            <a:r>
              <a:rPr lang="en-US" sz="1600" b="0" dirty="0">
                <a:solidFill>
                  <a:schemeClr val="bg1">
                    <a:lumMod val="75000"/>
                  </a:schemeClr>
                </a:solidFill>
                <a:effectLst/>
                <a:latin typeface="Menlo"/>
              </a:rPr>
              <a:t> and its first day as date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b="0" dirty="0">
                <a:solidFill>
                  <a:schemeClr val="bg1">
                    <a:lumMod val="75000"/>
                  </a:schemeClr>
                </a:solidFill>
                <a:effectLst/>
                <a:latin typeface="Menlo"/>
              </a:rPr>
              <a:t>Calculate the start of that latest month as a date</a:t>
            </a:r>
            <a:endParaRPr lang="en-US" sz="1600" dirty="0">
              <a:solidFill>
                <a:schemeClr val="bg1">
                  <a:lumMod val="75000"/>
                </a:schemeClr>
              </a:solidFill>
              <a:latin typeface="Menlo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b="0" dirty="0">
                <a:solidFill>
                  <a:schemeClr val="bg1">
                    <a:lumMod val="75000"/>
                  </a:schemeClr>
                </a:solidFill>
                <a:effectLst/>
                <a:latin typeface="Menlo"/>
              </a:rPr>
              <a:t>Get all latest-month records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b="0" dirty="0">
                <a:solidFill>
                  <a:srgbClr val="008000"/>
                </a:solidFill>
                <a:effectLst/>
                <a:latin typeface="Menlo"/>
              </a:rPr>
              <a:t>Get prior-month records where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Menlo"/>
              </a:rPr>
              <a:t>cov_end_dt</a:t>
            </a:r>
            <a:r>
              <a:rPr lang="en-US" sz="1600" b="0" dirty="0">
                <a:solidFill>
                  <a:srgbClr val="008000"/>
                </a:solidFill>
                <a:effectLst/>
                <a:latin typeface="Menlo"/>
              </a:rPr>
              <a:t> &lt; start of latest month, then deduplicate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b="0" dirty="0">
                <a:solidFill>
                  <a:srgbClr val="008000"/>
                </a:solidFill>
                <a:effectLst/>
                <a:latin typeface="Menlo"/>
              </a:rPr>
              <a:t>Final result, combine all latest-month MENR records with all deduplicated prior-month MENR records</a:t>
            </a:r>
            <a:endParaRPr lang="en-US" sz="1600" b="0" dirty="0">
              <a:solidFill>
                <a:srgbClr val="3B3B3B"/>
              </a:solidFill>
              <a:effectLst/>
              <a:latin typeface="Menlo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1600" dirty="0">
              <a:solidFill>
                <a:srgbClr val="008000"/>
              </a:solidFill>
              <a:latin typeface="Menlo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1600" b="0" dirty="0">
              <a:solidFill>
                <a:srgbClr val="3B3B3B"/>
              </a:solidFill>
              <a:effectLst/>
              <a:latin typeface="Menlo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hlinkClick r:id="rId2"/>
              </a:rPr>
              <a:t>Latest MENR plus prior MENR End Dated records - Databricks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54738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76E62-F5C7-72CF-4C5A-7F0F6AF6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17ABC-3BCB-4F47-AC3C-9D5177951563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" name="Graphic 4" descr="Badge Question Mark with solid fill">
            <a:extLst>
              <a:ext uri="{FF2B5EF4-FFF2-40B4-BE49-F238E27FC236}">
                <a16:creationId xmlns:a16="http://schemas.microsoft.com/office/drawing/2014/main" id="{40BBC68E-C413-7681-EA01-540CEBF0D9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2829" y="2252663"/>
            <a:ext cx="2743200" cy="2743200"/>
          </a:xfrm>
          <a:prstGeom prst="rect">
            <a:avLst/>
          </a:prstGeom>
        </p:spPr>
      </p:pic>
      <p:pic>
        <p:nvPicPr>
          <p:cNvPr id="6" name="Graphic 5" descr="Chat with solid fill">
            <a:extLst>
              <a:ext uri="{FF2B5EF4-FFF2-40B4-BE49-F238E27FC236}">
                <a16:creationId xmlns:a16="http://schemas.microsoft.com/office/drawing/2014/main" id="{66209899-6F0C-305F-0C21-103290DB43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77062" y="1849738"/>
            <a:ext cx="3573873" cy="357387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1849340-9440-C681-BCF4-EA951C055D7E}"/>
              </a:ext>
            </a:extLst>
          </p:cNvPr>
          <p:cNvCxnSpPr>
            <a:cxnSpLocks/>
          </p:cNvCxnSpPr>
          <p:nvPr/>
        </p:nvCxnSpPr>
        <p:spPr>
          <a:xfrm>
            <a:off x="6096000" y="1497195"/>
            <a:ext cx="0" cy="4135967"/>
          </a:xfrm>
          <a:prstGeom prst="line">
            <a:avLst/>
          </a:prstGeom>
          <a:ln w="13970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5649011"/>
      </p:ext>
    </p:extLst>
  </p:cSld>
  <p:clrMapOvr>
    <a:masterClrMapping/>
  </p:clrMapOvr>
</p:sld>
</file>

<file path=ppt/theme/theme1.xml><?xml version="1.0" encoding="utf-8"?>
<a:theme xmlns:a="http://schemas.openxmlformats.org/drawingml/2006/main" name="1.0 - Slide Master - 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ource Sans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M-PPT-ApprovedTemplate--Option-1-withInstructions-Jan2023  -  Read-Only" id="{A0502563-5CE5-455D-B14C-4F0866AFFCE3}" vid="{8DAFEDB6-081D-4935-BCDC-8C4D9BBD5C06}"/>
    </a:ext>
  </a:extLst>
</a:theme>
</file>

<file path=ppt/theme/theme2.xml><?xml version="1.0" encoding="utf-8"?>
<a:theme xmlns:a="http://schemas.openxmlformats.org/drawingml/2006/main" name="2.0 - Slide Master -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ource Sans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M-PPT-ApprovedTemplate--Option-1-withInstructions-Jan2023  -  Read-Only" id="{A0502563-5CE5-455D-B14C-4F0866AFFCE3}" vid="{F9B7919C-A3D6-429C-9558-E2F4237D32E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E62A8A34B8614BBAFE91C998988572" ma:contentTypeVersion="10" ma:contentTypeDescription="Create a new document." ma:contentTypeScope="" ma:versionID="993acd0ebe3d4b41eb805c6c9afb9eef">
  <xsd:schema xmlns:xsd="http://www.w3.org/2001/XMLSchema" xmlns:xs="http://www.w3.org/2001/XMLSchema" xmlns:p="http://schemas.microsoft.com/office/2006/metadata/properties" xmlns:ns2="b045652c-0488-4d93-85f8-6539f1c4bf92" targetNamespace="http://schemas.microsoft.com/office/2006/metadata/properties" ma:root="true" ma:fieldsID="0aaa2b9e46cddab28a3fa9210c8df6f8" ns2:_="">
    <xsd:import namespace="b045652c-0488-4d93-85f8-6539f1c4bf9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45652c-0488-4d93-85f8-6539f1c4bf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045652c-0488-4d93-85f8-6539f1c4bf92">
      <Terms xmlns="http://schemas.microsoft.com/office/infopath/2007/PartnerControls"/>
    </lcf76f155ced4ddcb4097134ff3c332f>
    <MediaLengthInSeconds xmlns="b045652c-0488-4d93-85f8-6539f1c4bf92" xsi:nil="true"/>
  </documentManagement>
</p:properties>
</file>

<file path=customXml/itemProps1.xml><?xml version="1.0" encoding="utf-8"?>
<ds:datastoreItem xmlns:ds="http://schemas.openxmlformats.org/officeDocument/2006/customXml" ds:itemID="{0C25CD31-6B7D-4DDE-9E18-6E697A7493F4}"/>
</file>

<file path=customXml/itemProps2.xml><?xml version="1.0" encoding="utf-8"?>
<ds:datastoreItem xmlns:ds="http://schemas.openxmlformats.org/officeDocument/2006/customXml" ds:itemID="{8BB15A55-D176-4D2A-B5E5-A2EC07C708A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29A1E8-7EA8-4126-A39A-880388111AF3}">
  <ds:schemaRefs>
    <ds:schemaRef ds:uri="be3dbf94-103d-4cd5-be7d-0fe25357d672"/>
    <ds:schemaRef ds:uri="http://purl.org/dc/dcmitype/"/>
    <ds:schemaRef ds:uri="http://purl.org/dc/elements/1.1/"/>
    <ds:schemaRef ds:uri="66810af5-81b7-4a54-9be9-ba2a8ed138ad"/>
    <ds:schemaRef ds:uri="http://schemas.openxmlformats.org/package/2006/metadata/core-properties"/>
    <ds:schemaRef ds:uri="http://www.w3.org/XML/1998/namespace"/>
    <ds:schemaRef ds:uri="18358125-cab4-414a-8dfa-a9672ab5a790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OPM-PPT-ApprovedTemplate--Option-1-withInstructions-Jan2023</Template>
  <TotalTime>9827</TotalTime>
  <Words>1204</Words>
  <Application>Microsoft Office PowerPoint</Application>
  <PresentationFormat>Widescreen</PresentationFormat>
  <Paragraphs>87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Courier New</vt:lpstr>
      <vt:lpstr>Menlo</vt:lpstr>
      <vt:lpstr>Source Sans Pro</vt:lpstr>
      <vt:lpstr>Source Sans Pro Semibold</vt:lpstr>
      <vt:lpstr>1.0 - Slide Master - Title</vt:lpstr>
      <vt:lpstr>2.0 - Slide Master - Content</vt:lpstr>
      <vt:lpstr>Postal Service Health Benefits System (PSHBS)  Full Historical Carrier Enrollment  Reconciliation Strategy</vt:lpstr>
      <vt:lpstr>Full Historical Carrier Enrollment Reconciliation Problem</vt:lpstr>
      <vt:lpstr>End-Dated Coverage from prior months falls off the Carrier MENR</vt:lpstr>
      <vt:lpstr>A ‘Full’ MENR is needed to compare against the ‘Full’ Preaudit. RCNO process needs to pull in MENR records from prior recon_months in int_recon_menr_in_mly_stg</vt:lpstr>
      <vt:lpstr>The ‘Full’ Preaudt can then be compared with the ‘Full’ MENR with PSHBS and MENR recon_month added to the RCNO to identify MENR records taken from prior MENR files</vt:lpstr>
      <vt:lpstr>Steps to produce ‘Full’ MENR</vt:lpstr>
      <vt:lpstr>Steps to produce ‘Full’ MENR</vt:lpstr>
      <vt:lpstr>PowerPoint Presentation</vt:lpstr>
    </vt:vector>
  </TitlesOfParts>
  <Company>OPM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Use OPM’s Approved PowerPoint Template</dc:title>
  <dc:subject>Approved template for OPM presentations</dc:subject>
  <dc:creator>McClure, Jessica H. (CTR)</dc:creator>
  <cp:keywords>accessibility,Section 508,branding,USOPM,OPM</cp:keywords>
  <dc:description>v20230120, OPM Approved PowerPoint Template Option 1</dc:description>
  <cp:lastModifiedBy>Turner, Justin</cp:lastModifiedBy>
  <cp:revision>5</cp:revision>
  <dcterms:created xsi:type="dcterms:W3CDTF">2023-12-21T13:59:47Z</dcterms:created>
  <dcterms:modified xsi:type="dcterms:W3CDTF">2026-03-25T18:29:36Z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0x0101008EE62A8A34B8614BBAFE91C998988572</vt:lpwstr>
  </property>
  <property fmtid="{D5CDD505-2E9C-101B-9397-08002B2CF9AE}" pid="3" name="Order">
    <vt:r8>4792300</vt:r8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TriggerFlowInfo">
    <vt:lpwstr/>
  </property>
</Properties>
</file>